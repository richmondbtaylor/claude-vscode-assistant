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Hold on screen as attendees join. No talking. Start with Hook 2 the moment the session begins.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Hook 2: '78% of sellers missed quota last year. The year before, 69%. So what is actually happening?'</a:t>
            </a:r>
          </a:p>
          <a:p>
            <a:r>
              <a:t>Pause after each stat card. Let them land.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Tell the full story honestly. End with: 'Learning to prompt AI is like learning to walk. Most people are still crawling — they get generic output and decide AI isn't useful. That's not an AI problem. That's a prompting problem. It's fixable.'</a:t>
            </a:r>
          </a:p>
          <a:p/>
          <a:p>
            <a:r>
              <a:t>Drop chat pulse check.</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Insert chat beat after 78%: 'Has your company given you formal AI training, or are you figuring this out alone?'</a:t>
            </a:r>
          </a:p>
          <a:p/>
          <a:p>
            <a:r>
              <a:t>Bain 2025: AI could double time spent selling from ~25% to ~50%.</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'Most people type what they want and hit enter. The other three layers are where the results live.'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'This is a build process, not a template hunt. Stop expecting perfect output on the first try. Start engineering toward it.'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60-90 sec for sign-ups. Watch chat.</a:t>
            </a:r>
          </a:p>
          <a:p>
            <a:r>
              <a:t>'Steps 3 and 4 are where this tool earns its value. You are reviewing what it surfaced and approving it. Much faster skill to learn.'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Refine: Topics (pipeline visibility, deal coaching, AI in sales), Post format (3-5 lines, no hashtag clusters, ends with POV/question), Comment goal (validate + insight + curiosity, never pitch), Voice (peer with firsthand experience).</a:t>
            </a:r>
          </a:p>
          <a:p/>
          <a:p>
            <a:r>
              <a:t>Run two live prompts:</a:t>
            </a:r>
          </a:p>
          <a:p>
            <a:r>
              <a:t>1. Post: 78% quota miss, time allocation angle, question for VP of Sales</a:t>
            </a:r>
          </a:p>
          <a:p>
            <a:r>
              <a:t>2. Comment: Marcus Webb Q1 post — validate, one insight, no pitch</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First: Claude → Settings → Integrations → Gmail → OAuth. Show live.</a:t>
            </a:r>
          </a:p>
          <a:p/>
          <a:p>
            <a:r>
              <a:t>Refine: Priority senders, urgency definition, calendar flags (conflicts, missing agendas), format (3 sections, 1 page), noise filters.</a:t>
            </a:r>
          </a:p>
          <a:p/>
          <a:p>
            <a:r>
              <a:t>Run: Morning briefing on live inbox.</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Refine: Product (DealPath — pipeline intelligence), ICP (VP Sales, Dir RevOps at SaaS 100-500), Competitors (Clari, Gong, Salesforce Forecasting — G2/Trustpilot/Reddit), Intent signals, 5-section output.</a:t>
            </a:r>
          </a:p>
          <a:p/>
          <a:p>
            <a:r>
              <a:t>Run: Full brief on Marcus Webb, VP Sales at Axiom Software.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Land each system name. Pause.</a:t>
            </a:r>
          </a:p>
          <a:p>
            <a:r>
              <a:t>'These are not demos. They're tools you can run tonight — built around YOUR product, YOUR ICP, YOUR voice.'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CLOSING (90-120 sec):</a:t>
            </a:r>
          </a:p>
          <a:p>
            <a:r>
              <a:t>'We started with: if AI is supposed to make reps more productive, why are more people missing quota now? You have the answer. It was never about the tools. It was about how you ask.</a:t>
            </a:r>
          </a:p>
          <a:p/>
          <a:p>
            <a:r>
              <a:t>The 72% of your week that isn't selling — that's where momentum dies. Three engineered prompts just gave you three ways to get it back.</a:t>
            </a:r>
          </a:p>
          <a:p/>
          <a:p>
            <a:r>
              <a:t>What comes next: autonomous agents, automation pipelines, AI that monitors your pipeline and flags deals before they die quietly. That's what Bishop AI builds.</a:t>
            </a:r>
          </a:p>
          <a:p/>
          <a:p>
            <a:r>
              <a:t>Calendar link is in the chat. 30 minutes. No pitch deck.</a:t>
            </a:r>
          </a:p>
          <a:p/>
          <a:p>
            <a:r>
              <a:t>The trial starts the moment you log in. Use tonight.'</a:t>
            </a:r>
          </a:p>
          <a:p/>
          <a:p>
            <a:r>
              <a:t>[Hold 3 seconds of silence after final line.]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0814"/>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0008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0" y="0"/>
            <a:ext cx="4846320" cy="3200400"/>
          </a:xfrm>
          <a:prstGeom prst="rect">
            <a:avLst/>
          </a:prstGeom>
          <a:solidFill>
            <a:srgbClr val="14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201168" cy="6858000"/>
          </a:xfrm>
          <a:prstGeom prst="rect">
            <a:avLst/>
          </a:prstGeom>
          <a:solidFill>
            <a:srgbClr val="E0B8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645920" y="1005840"/>
            <a:ext cx="8869680" cy="4663440"/>
          </a:xfrm>
          <a:prstGeom prst="roundRect">
            <a:avLst/>
          </a:prstGeom>
          <a:solidFill>
            <a:srgbClr val="121626"/>
          </a:solidFill>
          <a:ln w="9525">
            <a:solidFill>
              <a:srgbClr val="1064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286000" y="1234440"/>
            <a:ext cx="2011680" cy="475488"/>
          </a:xfrm>
          <a:prstGeom prst="rect">
            <a:avLst/>
          </a:prstGeom>
          <a:noFill/>
        </p:spPr>
        <p:txBody>
          <a:bodyPr wrap="square">
            <a:spAutoFit/>
          </a:bodyPr>
          <a:lstStyle/>
          <a:p>
            <a:pPr algn="l"/>
            <a:r>
              <a:rPr sz="2200" b="1" i="0">
                <a:solidFill>
                  <a:srgbClr val="FAFBFA"/>
                </a:solidFill>
                <a:latin typeface="Poppins"/>
              </a:rPr>
              <a:t>BISHOP</a:t>
            </a:r>
          </a:p>
        </p:txBody>
      </p:sp>
      <p:sp>
        <p:nvSpPr>
          <p:cNvPr id="7" name="TextBox 6"/>
          <p:cNvSpPr txBox="1"/>
          <p:nvPr/>
        </p:nvSpPr>
        <p:spPr>
          <a:xfrm>
            <a:off x="4251960" y="1234440"/>
            <a:ext cx="640080" cy="475488"/>
          </a:xfrm>
          <a:prstGeom prst="rect">
            <a:avLst/>
          </a:prstGeom>
          <a:noFill/>
        </p:spPr>
        <p:txBody>
          <a:bodyPr wrap="square">
            <a:spAutoFit/>
          </a:bodyPr>
          <a:lstStyle/>
          <a:p>
            <a:pPr algn="l"/>
            <a:r>
              <a:rPr sz="2200" b="1" i="0">
                <a:solidFill>
                  <a:srgbClr val="E0B848"/>
                </a:solidFill>
                <a:latin typeface="Poppins"/>
              </a:rPr>
              <a:t>AI</a:t>
            </a:r>
          </a:p>
        </p:txBody>
      </p:sp>
      <p:sp>
        <p:nvSpPr>
          <p:cNvPr id="8" name="Rounded Rectangle 7"/>
          <p:cNvSpPr/>
          <p:nvPr/>
        </p:nvSpPr>
        <p:spPr>
          <a:xfrm>
            <a:off x="5029200" y="1325880"/>
            <a:ext cx="1408176" cy="292608"/>
          </a:xfrm>
          <a:prstGeom prst="roundRect">
            <a:avLst/>
          </a:prstGeom>
          <a:solidFill>
            <a:srgbClr val="1894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0" y="1344168"/>
            <a:ext cx="1408176" cy="256032"/>
          </a:xfrm>
          <a:prstGeom prst="rect">
            <a:avLst/>
          </a:prstGeom>
          <a:noFill/>
        </p:spPr>
        <p:txBody>
          <a:bodyPr wrap="square">
            <a:spAutoFit/>
          </a:bodyPr>
          <a:lstStyle/>
          <a:p>
            <a:pPr algn="ctr"/>
            <a:r>
              <a:rPr sz="1000" b="1" i="0">
                <a:solidFill>
                  <a:srgbClr val="FAFBFA"/>
                </a:solidFill>
                <a:latin typeface="Montserrat"/>
              </a:rPr>
              <a:t>LIVE WEBINAR</a:t>
            </a:r>
          </a:p>
        </p:txBody>
      </p:sp>
      <p:sp>
        <p:nvSpPr>
          <p:cNvPr id="10" name="TextBox 9"/>
          <p:cNvSpPr txBox="1"/>
          <p:nvPr/>
        </p:nvSpPr>
        <p:spPr>
          <a:xfrm>
            <a:off x="1920240" y="1874519"/>
            <a:ext cx="8503920" cy="1554480"/>
          </a:xfrm>
          <a:prstGeom prst="rect">
            <a:avLst/>
          </a:prstGeom>
          <a:noFill/>
        </p:spPr>
        <p:txBody>
          <a:bodyPr wrap="square">
            <a:spAutoFit/>
          </a:bodyPr>
          <a:lstStyle/>
          <a:p>
            <a:pPr algn="ctr"/>
            <a:r>
              <a:rPr sz="4000" b="1" i="0">
                <a:solidFill>
                  <a:srgbClr val="FAFBFA"/>
                </a:solidFill>
                <a:latin typeface="Poppins"/>
              </a:rPr>
              <a:t>Prompt Engineering
for Sales Professionals</a:t>
            </a:r>
          </a:p>
        </p:txBody>
      </p:sp>
      <p:sp>
        <p:nvSpPr>
          <p:cNvPr id="11" name="Rectangle 10"/>
          <p:cNvSpPr/>
          <p:nvPr/>
        </p:nvSpPr>
        <p:spPr>
          <a:xfrm>
            <a:off x="3840480" y="3520440"/>
            <a:ext cx="4480560" cy="36576"/>
          </a:xfrm>
          <a:prstGeom prst="rect">
            <a:avLst/>
          </a:prstGeom>
          <a:solidFill>
            <a:srgbClr val="E0B8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920240" y="3657600"/>
            <a:ext cx="8503920" cy="475488"/>
          </a:xfrm>
          <a:prstGeom prst="rect">
            <a:avLst/>
          </a:prstGeom>
          <a:noFill/>
        </p:spPr>
        <p:txBody>
          <a:bodyPr wrap="square">
            <a:spAutoFit/>
          </a:bodyPr>
          <a:lstStyle/>
          <a:p>
            <a:pPr algn="ctr"/>
            <a:r>
              <a:rPr sz="2000" b="0" i="0">
                <a:solidFill>
                  <a:srgbClr val="E0B848"/>
                </a:solidFill>
                <a:latin typeface="Montserrat"/>
              </a:rPr>
              <a:t>The #1 Skill in AI — Learned in 60 Minutes</a:t>
            </a:r>
          </a:p>
        </p:txBody>
      </p:sp>
      <p:sp>
        <p:nvSpPr>
          <p:cNvPr id="13" name="TextBox 12"/>
          <p:cNvSpPr txBox="1"/>
          <p:nvPr/>
        </p:nvSpPr>
        <p:spPr>
          <a:xfrm>
            <a:off x="1920240" y="4251960"/>
            <a:ext cx="8503920" cy="384048"/>
          </a:xfrm>
          <a:prstGeom prst="rect">
            <a:avLst/>
          </a:prstGeom>
          <a:noFill/>
        </p:spPr>
        <p:txBody>
          <a:bodyPr wrap="square">
            <a:spAutoFit/>
          </a:bodyPr>
          <a:lstStyle/>
          <a:p>
            <a:pPr algn="ctr"/>
            <a:r>
              <a:rPr sz="1600" b="0" i="0">
                <a:solidFill>
                  <a:srgbClr val="C8CDD7"/>
                </a:solidFill>
                <a:latin typeface="Open Sans"/>
              </a:rPr>
              <a:t>Richmond Taylor  ·  Founder, Bishop AI</a:t>
            </a:r>
          </a:p>
        </p:txBody>
      </p:sp>
      <p:sp>
        <p:nvSpPr>
          <p:cNvPr id="14" name="Rounded Rectangle 13"/>
          <p:cNvSpPr/>
          <p:nvPr/>
        </p:nvSpPr>
        <p:spPr>
          <a:xfrm>
            <a:off x="2560320" y="5120640"/>
            <a:ext cx="1495044" cy="292608"/>
          </a:xfrm>
          <a:prstGeom prst="round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560320" y="5138928"/>
            <a:ext cx="1495044" cy="256032"/>
          </a:xfrm>
          <a:prstGeom prst="rect">
            <a:avLst/>
          </a:prstGeom>
          <a:noFill/>
        </p:spPr>
        <p:txBody>
          <a:bodyPr wrap="square">
            <a:spAutoFit/>
          </a:bodyPr>
          <a:lstStyle/>
          <a:p>
            <a:pPr algn="ctr"/>
            <a:r>
              <a:rPr sz="1100" b="1" i="0">
                <a:solidFill>
                  <a:srgbClr val="C8CDD7"/>
                </a:solidFill>
                <a:latin typeface="Montserrat"/>
              </a:rPr>
              <a:t>3 Live Builds</a:t>
            </a:r>
          </a:p>
        </p:txBody>
      </p:sp>
      <p:sp>
        <p:nvSpPr>
          <p:cNvPr id="16" name="Rounded Rectangle 15"/>
          <p:cNvSpPr/>
          <p:nvPr/>
        </p:nvSpPr>
        <p:spPr>
          <a:xfrm>
            <a:off x="4283964" y="5120640"/>
            <a:ext cx="1755648" cy="292608"/>
          </a:xfrm>
          <a:prstGeom prst="round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283964" y="5138928"/>
            <a:ext cx="1755648" cy="256032"/>
          </a:xfrm>
          <a:prstGeom prst="rect">
            <a:avLst/>
          </a:prstGeom>
          <a:noFill/>
        </p:spPr>
        <p:txBody>
          <a:bodyPr wrap="square">
            <a:spAutoFit/>
          </a:bodyPr>
          <a:lstStyle/>
          <a:p>
            <a:pPr algn="ctr"/>
            <a:r>
              <a:rPr sz="1100" b="1" i="0">
                <a:solidFill>
                  <a:srgbClr val="C8CDD7"/>
                </a:solidFill>
                <a:latin typeface="Montserrat"/>
              </a:rPr>
              <a:t>Starts in Claude</a:t>
            </a:r>
          </a:p>
        </p:txBody>
      </p:sp>
      <p:sp>
        <p:nvSpPr>
          <p:cNvPr id="18" name="Rounded Rectangle 17"/>
          <p:cNvSpPr/>
          <p:nvPr/>
        </p:nvSpPr>
        <p:spPr>
          <a:xfrm>
            <a:off x="6268212" y="5120640"/>
            <a:ext cx="1668780" cy="292608"/>
          </a:xfrm>
          <a:prstGeom prst="round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68212" y="5138928"/>
            <a:ext cx="1668780" cy="256032"/>
          </a:xfrm>
          <a:prstGeom prst="rect">
            <a:avLst/>
          </a:prstGeom>
          <a:noFill/>
        </p:spPr>
        <p:txBody>
          <a:bodyPr wrap="square">
            <a:spAutoFit/>
          </a:bodyPr>
          <a:lstStyle/>
          <a:p>
            <a:pPr algn="ctr"/>
            <a:r>
              <a:rPr sz="1100" b="1" i="0">
                <a:solidFill>
                  <a:srgbClr val="C8CDD7"/>
                </a:solidFill>
                <a:latin typeface="Montserrat"/>
              </a:rPr>
              <a:t>Keep Everything</a:t>
            </a:r>
          </a:p>
        </p:txBody>
      </p:sp>
      <p:sp>
        <p:nvSpPr>
          <p:cNvPr id="20" name="Rectangle 19"/>
          <p:cNvSpPr/>
          <p:nvPr/>
        </p:nvSpPr>
        <p:spPr>
          <a:xfrm>
            <a:off x="0" y="6601968"/>
            <a:ext cx="12191695" cy="256032"/>
          </a:xfrm>
          <a:prstGeom prst="rect">
            <a:avLst/>
          </a:prstGeom>
          <a:solidFill>
            <a:srgbClr val="121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6620256"/>
            <a:ext cx="11247120" cy="201168"/>
          </a:xfrm>
          <a:prstGeom prst="rect">
            <a:avLst/>
          </a:prstGeom>
          <a:noFill/>
        </p:spPr>
        <p:txBody>
          <a:bodyPr wrap="square">
            <a:spAutoFit/>
          </a:bodyPr>
          <a:lstStyle/>
          <a:p>
            <a:pPr algn="ctr"/>
            <a:r>
              <a:rPr sz="900" b="0" i="0">
                <a:solidFill>
                  <a:srgbClr val="788296"/>
                </a:solidFill>
                <a:latin typeface="Open Sans"/>
              </a:rPr>
              <a:t>PromptAnything.io  ·  BishopAI.com  ·  calendly.com/richmond  ·  Automation Nation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00814"/>
        </a:solidFill>
        <a:effectLst/>
      </p:bgPr>
    </p:bg>
    <p:spTree>
      <p:nvGrpSpPr>
        <p:cNvPr id="1" name=""/>
        <p:cNvGrpSpPr/>
        <p:nvPr/>
      </p:nvGrpSpPr>
      <p:grpSpPr/>
      <p:sp>
        <p:nvSpPr>
          <p:cNvPr id="2" name="TextBox 1"/>
          <p:cNvSpPr txBox="1"/>
          <p:nvPr/>
        </p:nvSpPr>
        <p:spPr>
          <a:xfrm>
            <a:off x="411480" y="164592"/>
            <a:ext cx="1005840" cy="347472"/>
          </a:xfrm>
          <a:prstGeom prst="rect">
            <a:avLst/>
          </a:prstGeom>
          <a:noFill/>
        </p:spPr>
        <p:txBody>
          <a:bodyPr wrap="square">
            <a:spAutoFit/>
          </a:bodyPr>
          <a:lstStyle/>
          <a:p>
            <a:pPr algn="l"/>
            <a:r>
              <a:rPr sz="1500" b="1" i="0">
                <a:solidFill>
                  <a:srgbClr val="FAFBFA"/>
                </a:solidFill>
                <a:latin typeface="Poppins"/>
              </a:rPr>
              <a:t>BISHOP</a:t>
            </a:r>
          </a:p>
        </p:txBody>
      </p:sp>
      <p:sp>
        <p:nvSpPr>
          <p:cNvPr id="3" name="TextBox 2"/>
          <p:cNvSpPr txBox="1"/>
          <p:nvPr/>
        </p:nvSpPr>
        <p:spPr>
          <a:xfrm>
            <a:off x="1371600" y="164592"/>
            <a:ext cx="457200" cy="347472"/>
          </a:xfrm>
          <a:prstGeom prst="rect">
            <a:avLst/>
          </a:prstGeom>
          <a:noFill/>
        </p:spPr>
        <p:txBody>
          <a:bodyPr wrap="square">
            <a:spAutoFit/>
          </a:bodyPr>
          <a:lstStyle/>
          <a:p>
            <a:pPr algn="l"/>
            <a:r>
              <a:rPr sz="1500" b="1" i="0">
                <a:solidFill>
                  <a:srgbClr val="E0B848"/>
                </a:solidFill>
                <a:latin typeface="Poppins"/>
              </a:rPr>
              <a:t>AI</a:t>
            </a:r>
          </a:p>
        </p:txBody>
      </p:sp>
      <p:sp>
        <p:nvSpPr>
          <p:cNvPr id="4" name="Rectangle 3"/>
          <p:cNvSpPr/>
          <p:nvPr/>
        </p:nvSpPr>
        <p:spPr>
          <a:xfrm>
            <a:off x="0" y="6601968"/>
            <a:ext cx="12191695" cy="256032"/>
          </a:xfrm>
          <a:prstGeom prst="rect">
            <a:avLst/>
          </a:prstGeom>
          <a:solidFill>
            <a:srgbClr val="121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620256"/>
            <a:ext cx="11247120" cy="201168"/>
          </a:xfrm>
          <a:prstGeom prst="rect">
            <a:avLst/>
          </a:prstGeom>
          <a:noFill/>
        </p:spPr>
        <p:txBody>
          <a:bodyPr wrap="square">
            <a:spAutoFit/>
          </a:bodyPr>
          <a:lstStyle/>
          <a:p>
            <a:pPr algn="ctr"/>
            <a:r>
              <a:rPr sz="900" b="0" i="0">
                <a:solidFill>
                  <a:srgbClr val="788296"/>
                </a:solidFill>
                <a:latin typeface="Open Sans"/>
              </a:rPr>
              <a:t>PromptAnything.io  ·  BishopAI.com  ·  calendly.com/richmond  ·  Automation Nation</a:t>
            </a:r>
          </a:p>
        </p:txBody>
      </p:sp>
      <p:sp>
        <p:nvSpPr>
          <p:cNvPr id="6" name="Rounded Rectangle 5"/>
          <p:cNvSpPr/>
          <p:nvPr/>
        </p:nvSpPr>
        <p:spPr>
          <a:xfrm>
            <a:off x="4971135" y="91440"/>
            <a:ext cx="109728" cy="109728"/>
          </a:xfrm>
          <a:prstGeom prst="roundRect">
            <a:avLst/>
          </a:prstGeom>
          <a:solidFill>
            <a:srgbClr val="E0B8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135727" y="91440"/>
            <a:ext cx="109728" cy="109728"/>
          </a:xfrm>
          <a:prstGeom prst="roundRect">
            <a:avLst/>
          </a:prstGeom>
          <a:solidFill>
            <a:srgbClr val="788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300319" y="91440"/>
            <a:ext cx="109728" cy="109728"/>
          </a:xfrm>
          <a:prstGeom prst="roundRect">
            <a:avLst/>
          </a:prstGeom>
          <a:solidFill>
            <a:srgbClr val="788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464911" y="91440"/>
            <a:ext cx="109728" cy="109728"/>
          </a:xfrm>
          <a:prstGeom prst="roundRect">
            <a:avLst/>
          </a:prstGeom>
          <a:solidFill>
            <a:srgbClr val="788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629503" y="91440"/>
            <a:ext cx="109728" cy="109728"/>
          </a:xfrm>
          <a:prstGeom prst="roundRect">
            <a:avLst/>
          </a:prstGeom>
          <a:solidFill>
            <a:srgbClr val="788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5794095" y="91440"/>
            <a:ext cx="109728" cy="109728"/>
          </a:xfrm>
          <a:prstGeom prst="roundRect">
            <a:avLst/>
          </a:prstGeom>
          <a:solidFill>
            <a:srgbClr val="788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958687" y="91440"/>
            <a:ext cx="109728" cy="109728"/>
          </a:xfrm>
          <a:prstGeom prst="roundRect">
            <a:avLst/>
          </a:prstGeom>
          <a:solidFill>
            <a:srgbClr val="788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123279" y="91440"/>
            <a:ext cx="109728" cy="109728"/>
          </a:xfrm>
          <a:prstGeom prst="roundRect">
            <a:avLst/>
          </a:prstGeom>
          <a:solidFill>
            <a:srgbClr val="788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287871" y="91440"/>
            <a:ext cx="109728" cy="109728"/>
          </a:xfrm>
          <a:prstGeom prst="roundRect">
            <a:avLst/>
          </a:prstGeom>
          <a:solidFill>
            <a:srgbClr val="788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452463" y="91440"/>
            <a:ext cx="109728" cy="109728"/>
          </a:xfrm>
          <a:prstGeom prst="roundRect">
            <a:avLst/>
          </a:prstGeom>
          <a:solidFill>
            <a:srgbClr val="788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617055" y="91440"/>
            <a:ext cx="109728" cy="109728"/>
          </a:xfrm>
          <a:prstGeom prst="roundRect">
            <a:avLst/>
          </a:prstGeom>
          <a:solidFill>
            <a:srgbClr val="788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781647" y="91440"/>
            <a:ext cx="109728" cy="109728"/>
          </a:xfrm>
          <a:prstGeom prst="roundRect">
            <a:avLst/>
          </a:prstGeom>
          <a:solidFill>
            <a:srgbClr val="788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946239" y="91440"/>
            <a:ext cx="109728" cy="109728"/>
          </a:xfrm>
          <a:prstGeom prst="roundRect">
            <a:avLst/>
          </a:prstGeom>
          <a:solidFill>
            <a:srgbClr val="788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7110831" y="91440"/>
            <a:ext cx="109728" cy="109728"/>
          </a:xfrm>
          <a:prstGeom prst="roundRect">
            <a:avLst/>
          </a:prstGeom>
          <a:solidFill>
            <a:srgbClr val="788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11480" y="685800"/>
            <a:ext cx="1321307" cy="292608"/>
          </a:xfrm>
          <a:prstGeom prst="roundRect">
            <a:avLst/>
          </a:prstGeom>
          <a:solidFill>
            <a:srgbClr val="E0B8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11480" y="704088"/>
            <a:ext cx="1321307" cy="256032"/>
          </a:xfrm>
          <a:prstGeom prst="rect">
            <a:avLst/>
          </a:prstGeom>
          <a:noFill/>
        </p:spPr>
        <p:txBody>
          <a:bodyPr wrap="square">
            <a:spAutoFit/>
          </a:bodyPr>
          <a:lstStyle/>
          <a:p>
            <a:pPr algn="ctr"/>
            <a:r>
              <a:rPr sz="1000" b="1" i="0">
                <a:solidFill>
                  <a:srgbClr val="FAFBFA"/>
                </a:solidFill>
                <a:latin typeface="Montserrat"/>
              </a:rPr>
              <a:t>THE PROBLEM</a:t>
            </a:r>
          </a:p>
        </p:txBody>
      </p:sp>
      <p:sp>
        <p:nvSpPr>
          <p:cNvPr id="22" name="TextBox 21"/>
          <p:cNvSpPr txBox="1"/>
          <p:nvPr/>
        </p:nvSpPr>
        <p:spPr>
          <a:xfrm>
            <a:off x="411480" y="1078992"/>
            <a:ext cx="11338560" cy="777240"/>
          </a:xfrm>
          <a:prstGeom prst="rect">
            <a:avLst/>
          </a:prstGeom>
          <a:noFill/>
        </p:spPr>
        <p:txBody>
          <a:bodyPr wrap="square">
            <a:spAutoFit/>
          </a:bodyPr>
          <a:lstStyle/>
          <a:p>
            <a:pPr algn="l"/>
            <a:r>
              <a:rPr sz="2800" b="1" i="0">
                <a:solidFill>
                  <a:srgbClr val="FAFBFA"/>
                </a:solidFill>
                <a:latin typeface="Poppins"/>
              </a:rPr>
              <a:t>More reps missed quota last year than the year before.</a:t>
            </a:r>
          </a:p>
        </p:txBody>
      </p:sp>
      <p:sp>
        <p:nvSpPr>
          <p:cNvPr id="23" name="Rounded Rectangle 22"/>
          <p:cNvSpPr/>
          <p:nvPr/>
        </p:nvSpPr>
        <p:spPr>
          <a:xfrm>
            <a:off x="411480" y="1874519"/>
            <a:ext cx="3566160" cy="3200400"/>
          </a:xfrm>
          <a:prstGeom prst="roundRect">
            <a:avLst/>
          </a:prstGeom>
          <a:solidFill>
            <a:srgbClr val="121626"/>
          </a:solidFill>
          <a:ln w="6350">
            <a:solidFill>
              <a:srgbClr val="1064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411480" y="1874519"/>
            <a:ext cx="3566160" cy="73152"/>
          </a:xfrm>
          <a:prstGeom prst="roundRect">
            <a:avLst/>
          </a:prstGeom>
          <a:solidFill>
            <a:srgbClr val="E0B8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11480" y="2039111"/>
            <a:ext cx="3566160" cy="1005840"/>
          </a:xfrm>
          <a:prstGeom prst="rect">
            <a:avLst/>
          </a:prstGeom>
          <a:noFill/>
        </p:spPr>
        <p:txBody>
          <a:bodyPr wrap="square">
            <a:spAutoFit/>
          </a:bodyPr>
          <a:lstStyle/>
          <a:p>
            <a:pPr algn="ctr"/>
            <a:r>
              <a:rPr sz="5200" b="1" i="0">
                <a:solidFill>
                  <a:srgbClr val="E0B848"/>
                </a:solidFill>
                <a:latin typeface="Poppins"/>
              </a:rPr>
              <a:t>28%</a:t>
            </a:r>
          </a:p>
        </p:txBody>
      </p:sp>
      <p:sp>
        <p:nvSpPr>
          <p:cNvPr id="26" name="TextBox 25"/>
          <p:cNvSpPr txBox="1"/>
          <p:nvPr/>
        </p:nvSpPr>
        <p:spPr>
          <a:xfrm>
            <a:off x="548640" y="3108959"/>
            <a:ext cx="3291840" cy="594360"/>
          </a:xfrm>
          <a:prstGeom prst="rect">
            <a:avLst/>
          </a:prstGeom>
          <a:noFill/>
        </p:spPr>
        <p:txBody>
          <a:bodyPr wrap="square">
            <a:spAutoFit/>
          </a:bodyPr>
          <a:lstStyle/>
          <a:p>
            <a:pPr algn="ctr"/>
            <a:r>
              <a:rPr sz="1300" b="0" i="0">
                <a:solidFill>
                  <a:srgbClr val="C8CDD7"/>
                </a:solidFill>
                <a:latin typeface="Open Sans"/>
              </a:rPr>
              <a:t>of the week is
actual selling</a:t>
            </a:r>
          </a:p>
        </p:txBody>
      </p:sp>
      <p:sp>
        <p:nvSpPr>
          <p:cNvPr id="27" name="Rounded Rectangle 26"/>
          <p:cNvSpPr/>
          <p:nvPr/>
        </p:nvSpPr>
        <p:spPr>
          <a:xfrm>
            <a:off x="1463040" y="4690871"/>
            <a:ext cx="1668780" cy="292608"/>
          </a:xfrm>
          <a:prstGeom prst="roundRect">
            <a:avLst/>
          </a:prstGeom>
          <a:solidFill>
            <a:srgbClr val="14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463040" y="4709159"/>
            <a:ext cx="1668780" cy="256032"/>
          </a:xfrm>
          <a:prstGeom prst="rect">
            <a:avLst/>
          </a:prstGeom>
          <a:noFill/>
        </p:spPr>
        <p:txBody>
          <a:bodyPr wrap="square">
            <a:spAutoFit/>
          </a:bodyPr>
          <a:lstStyle/>
          <a:p>
            <a:pPr algn="ctr"/>
            <a:r>
              <a:rPr sz="900" b="1" i="0">
                <a:solidFill>
                  <a:srgbClr val="788296"/>
                </a:solidFill>
                <a:latin typeface="Montserrat"/>
              </a:rPr>
              <a:t>Salesforce 2025</a:t>
            </a:r>
          </a:p>
        </p:txBody>
      </p:sp>
      <p:sp>
        <p:nvSpPr>
          <p:cNvPr id="29" name="Rounded Rectangle 28"/>
          <p:cNvSpPr/>
          <p:nvPr/>
        </p:nvSpPr>
        <p:spPr>
          <a:xfrm>
            <a:off x="4160520" y="1874519"/>
            <a:ext cx="3566160" cy="3200400"/>
          </a:xfrm>
          <a:prstGeom prst="roundRect">
            <a:avLst/>
          </a:prstGeom>
          <a:solidFill>
            <a:srgbClr val="121626"/>
          </a:solidFill>
          <a:ln w="6350">
            <a:solidFill>
              <a:srgbClr val="1064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4160520" y="1874519"/>
            <a:ext cx="3566160" cy="73152"/>
          </a:xfrm>
          <a:prstGeom prst="roundRect">
            <a:avLst/>
          </a:prstGeom>
          <a:solidFill>
            <a:srgbClr val="DC5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160520" y="2039111"/>
            <a:ext cx="3566160" cy="1005840"/>
          </a:xfrm>
          <a:prstGeom prst="rect">
            <a:avLst/>
          </a:prstGeom>
          <a:noFill/>
        </p:spPr>
        <p:txBody>
          <a:bodyPr wrap="square">
            <a:spAutoFit/>
          </a:bodyPr>
          <a:lstStyle/>
          <a:p>
            <a:pPr algn="ctr"/>
            <a:r>
              <a:rPr sz="5200" b="1" i="0">
                <a:solidFill>
                  <a:srgbClr val="DC5050"/>
                </a:solidFill>
                <a:latin typeface="Poppins"/>
              </a:rPr>
              <a:t>78%</a:t>
            </a:r>
          </a:p>
        </p:txBody>
      </p:sp>
      <p:sp>
        <p:nvSpPr>
          <p:cNvPr id="32" name="TextBox 31"/>
          <p:cNvSpPr txBox="1"/>
          <p:nvPr/>
        </p:nvSpPr>
        <p:spPr>
          <a:xfrm>
            <a:off x="4297680" y="3108959"/>
            <a:ext cx="3291840" cy="594360"/>
          </a:xfrm>
          <a:prstGeom prst="rect">
            <a:avLst/>
          </a:prstGeom>
          <a:noFill/>
        </p:spPr>
        <p:txBody>
          <a:bodyPr wrap="square">
            <a:spAutoFit/>
          </a:bodyPr>
          <a:lstStyle/>
          <a:p>
            <a:pPr algn="ctr"/>
            <a:r>
              <a:rPr sz="1300" b="0" i="0">
                <a:solidFill>
                  <a:srgbClr val="C8CDD7"/>
                </a:solidFill>
                <a:latin typeface="Open Sans"/>
              </a:rPr>
              <a:t>of sellers
missed quota</a:t>
            </a:r>
          </a:p>
        </p:txBody>
      </p:sp>
      <p:sp>
        <p:nvSpPr>
          <p:cNvPr id="33" name="Rounded Rectangle 32"/>
          <p:cNvSpPr/>
          <p:nvPr/>
        </p:nvSpPr>
        <p:spPr>
          <a:xfrm>
            <a:off x="5212080" y="4690871"/>
            <a:ext cx="1755648" cy="292608"/>
          </a:xfrm>
          <a:prstGeom prst="roundRect">
            <a:avLst/>
          </a:prstGeom>
          <a:solidFill>
            <a:srgbClr val="14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212080" y="4709159"/>
            <a:ext cx="1755648" cy="256032"/>
          </a:xfrm>
          <a:prstGeom prst="rect">
            <a:avLst/>
          </a:prstGeom>
          <a:noFill/>
        </p:spPr>
        <p:txBody>
          <a:bodyPr wrap="square">
            <a:spAutoFit/>
          </a:bodyPr>
          <a:lstStyle/>
          <a:p>
            <a:pPr algn="ctr"/>
            <a:r>
              <a:rPr sz="900" b="1" i="0">
                <a:solidFill>
                  <a:srgbClr val="788296"/>
                </a:solidFill>
                <a:latin typeface="Montserrat"/>
              </a:rPr>
              <a:t>Salesmotion 2025</a:t>
            </a:r>
          </a:p>
        </p:txBody>
      </p:sp>
      <p:sp>
        <p:nvSpPr>
          <p:cNvPr id="35" name="Rounded Rectangle 34"/>
          <p:cNvSpPr/>
          <p:nvPr/>
        </p:nvSpPr>
        <p:spPr>
          <a:xfrm>
            <a:off x="7909560" y="1874519"/>
            <a:ext cx="3566160" cy="3200400"/>
          </a:xfrm>
          <a:prstGeom prst="roundRect">
            <a:avLst/>
          </a:prstGeom>
          <a:solidFill>
            <a:srgbClr val="121626"/>
          </a:solidFill>
          <a:ln w="6350">
            <a:solidFill>
              <a:srgbClr val="1064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7909560" y="1874519"/>
            <a:ext cx="3566160" cy="73152"/>
          </a:xfrm>
          <a:prstGeom prst="roundRect">
            <a:avLst/>
          </a:prstGeom>
          <a:solidFill>
            <a:srgbClr val="1894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909560" y="2039111"/>
            <a:ext cx="3566160" cy="1005840"/>
          </a:xfrm>
          <a:prstGeom prst="rect">
            <a:avLst/>
          </a:prstGeom>
          <a:noFill/>
        </p:spPr>
        <p:txBody>
          <a:bodyPr wrap="square">
            <a:spAutoFit/>
          </a:bodyPr>
          <a:lstStyle/>
          <a:p>
            <a:pPr algn="ctr"/>
            <a:r>
              <a:rPr sz="5200" b="1" i="0">
                <a:solidFill>
                  <a:srgbClr val="1894C9"/>
                </a:solidFill>
                <a:latin typeface="Poppins"/>
              </a:rPr>
              <a:t>3.7x</a:t>
            </a:r>
          </a:p>
        </p:txBody>
      </p:sp>
      <p:sp>
        <p:nvSpPr>
          <p:cNvPr id="38" name="TextBox 37"/>
          <p:cNvSpPr txBox="1"/>
          <p:nvPr/>
        </p:nvSpPr>
        <p:spPr>
          <a:xfrm>
            <a:off x="8046720" y="3108959"/>
            <a:ext cx="3291840" cy="594360"/>
          </a:xfrm>
          <a:prstGeom prst="rect">
            <a:avLst/>
          </a:prstGeom>
          <a:noFill/>
        </p:spPr>
        <p:txBody>
          <a:bodyPr wrap="square">
            <a:spAutoFit/>
          </a:bodyPr>
          <a:lstStyle/>
          <a:p>
            <a:pPr algn="ctr"/>
            <a:r>
              <a:rPr sz="1300" b="0" i="0">
                <a:solidFill>
                  <a:srgbClr val="C8CDD7"/>
                </a:solidFill>
                <a:latin typeface="Open Sans"/>
              </a:rPr>
              <a:t>more likely to hit quota
with structured AI</a:t>
            </a:r>
          </a:p>
        </p:txBody>
      </p:sp>
      <p:sp>
        <p:nvSpPr>
          <p:cNvPr id="39" name="Rounded Rectangle 38"/>
          <p:cNvSpPr/>
          <p:nvPr/>
        </p:nvSpPr>
        <p:spPr>
          <a:xfrm>
            <a:off x="8961120" y="4690871"/>
            <a:ext cx="1408176" cy="292608"/>
          </a:xfrm>
          <a:prstGeom prst="roundRect">
            <a:avLst/>
          </a:prstGeom>
          <a:solidFill>
            <a:srgbClr val="14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961120" y="4709159"/>
            <a:ext cx="1408176" cy="256032"/>
          </a:xfrm>
          <a:prstGeom prst="rect">
            <a:avLst/>
          </a:prstGeom>
          <a:noFill/>
        </p:spPr>
        <p:txBody>
          <a:bodyPr wrap="square">
            <a:spAutoFit/>
          </a:bodyPr>
          <a:lstStyle/>
          <a:p>
            <a:pPr algn="ctr"/>
            <a:r>
              <a:rPr sz="900" b="1" i="0">
                <a:solidFill>
                  <a:srgbClr val="788296"/>
                </a:solidFill>
                <a:latin typeface="Montserrat"/>
              </a:rPr>
              <a:t>Gartner 2025</a:t>
            </a:r>
          </a:p>
        </p:txBody>
      </p:sp>
      <p:sp>
        <p:nvSpPr>
          <p:cNvPr id="41" name="TextBox 40"/>
          <p:cNvSpPr txBox="1"/>
          <p:nvPr/>
        </p:nvSpPr>
        <p:spPr>
          <a:xfrm>
            <a:off x="411480" y="5285232"/>
            <a:ext cx="11338560" cy="384048"/>
          </a:xfrm>
          <a:prstGeom prst="rect">
            <a:avLst/>
          </a:prstGeom>
          <a:noFill/>
        </p:spPr>
        <p:txBody>
          <a:bodyPr wrap="square">
            <a:spAutoFit/>
          </a:bodyPr>
          <a:lstStyle/>
          <a:p>
            <a:pPr algn="ctr"/>
            <a:r>
              <a:rPr sz="1400" b="0" i="1">
                <a:solidFill>
                  <a:srgbClr val="788296"/>
                </a:solidFill>
                <a:latin typeface="Montserrat"/>
              </a:rPr>
              <a:t>The tools aren't getting worse. Reps aren't getting lazier. The prompts are wrong.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00814"/>
        </a:solidFill>
        <a:effectLst/>
      </p:bgPr>
    </p:bg>
    <p:spTree>
      <p:nvGrpSpPr>
        <p:cNvPr id="1" name=""/>
        <p:cNvGrpSpPr/>
        <p:nvPr/>
      </p:nvGrpSpPr>
      <p:grpSpPr/>
      <p:sp>
        <p:nvSpPr>
          <p:cNvPr id="2" name="TextBox 1"/>
          <p:cNvSpPr txBox="1"/>
          <p:nvPr/>
        </p:nvSpPr>
        <p:spPr>
          <a:xfrm>
            <a:off x="411480" y="164592"/>
            <a:ext cx="1005840" cy="347472"/>
          </a:xfrm>
          <a:prstGeom prst="rect">
            <a:avLst/>
          </a:prstGeom>
          <a:noFill/>
        </p:spPr>
        <p:txBody>
          <a:bodyPr wrap="square">
            <a:spAutoFit/>
          </a:bodyPr>
          <a:lstStyle/>
          <a:p>
            <a:pPr algn="l"/>
            <a:r>
              <a:rPr sz="1500" b="1" i="0">
                <a:solidFill>
                  <a:srgbClr val="FAFBFA"/>
                </a:solidFill>
                <a:latin typeface="Poppins"/>
              </a:rPr>
              <a:t>BISHOP</a:t>
            </a:r>
          </a:p>
        </p:txBody>
      </p:sp>
      <p:sp>
        <p:nvSpPr>
          <p:cNvPr id="3" name="TextBox 2"/>
          <p:cNvSpPr txBox="1"/>
          <p:nvPr/>
        </p:nvSpPr>
        <p:spPr>
          <a:xfrm>
            <a:off x="1371600" y="164592"/>
            <a:ext cx="457200" cy="347472"/>
          </a:xfrm>
          <a:prstGeom prst="rect">
            <a:avLst/>
          </a:prstGeom>
          <a:noFill/>
        </p:spPr>
        <p:txBody>
          <a:bodyPr wrap="square">
            <a:spAutoFit/>
          </a:bodyPr>
          <a:lstStyle/>
          <a:p>
            <a:pPr algn="l"/>
            <a:r>
              <a:rPr sz="1500" b="1" i="0">
                <a:solidFill>
                  <a:srgbClr val="E0B848"/>
                </a:solidFill>
                <a:latin typeface="Poppins"/>
              </a:rPr>
              <a:t>AI</a:t>
            </a:r>
          </a:p>
        </p:txBody>
      </p:sp>
      <p:sp>
        <p:nvSpPr>
          <p:cNvPr id="4" name="Rectangle 3"/>
          <p:cNvSpPr/>
          <p:nvPr/>
        </p:nvSpPr>
        <p:spPr>
          <a:xfrm>
            <a:off x="0" y="6601968"/>
            <a:ext cx="12191695" cy="256032"/>
          </a:xfrm>
          <a:prstGeom prst="rect">
            <a:avLst/>
          </a:prstGeom>
          <a:solidFill>
            <a:srgbClr val="121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620256"/>
            <a:ext cx="11247120" cy="201168"/>
          </a:xfrm>
          <a:prstGeom prst="rect">
            <a:avLst/>
          </a:prstGeom>
          <a:noFill/>
        </p:spPr>
        <p:txBody>
          <a:bodyPr wrap="square">
            <a:spAutoFit/>
          </a:bodyPr>
          <a:lstStyle/>
          <a:p>
            <a:pPr algn="ctr"/>
            <a:r>
              <a:rPr sz="900" b="0" i="0">
                <a:solidFill>
                  <a:srgbClr val="788296"/>
                </a:solidFill>
                <a:latin typeface="Open Sans"/>
              </a:rPr>
              <a:t>PromptAnything.io  ·  BishopAI.com  ·  calendly.com/richmond  ·  Automation Nation</a:t>
            </a:r>
          </a:p>
        </p:txBody>
      </p:sp>
      <p:sp>
        <p:nvSpPr>
          <p:cNvPr id="6" name="Rounded Rectangle 5"/>
          <p:cNvSpPr/>
          <p:nvPr/>
        </p:nvSpPr>
        <p:spPr>
          <a:xfrm>
            <a:off x="4971135" y="91440"/>
            <a:ext cx="109728" cy="109728"/>
          </a:xfrm>
          <a:prstGeom prst="roundRect">
            <a:avLst/>
          </a:prstGeom>
          <a:solidFill>
            <a:srgbClr val="788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135727" y="91440"/>
            <a:ext cx="109728" cy="109728"/>
          </a:xfrm>
          <a:prstGeom prst="roundRect">
            <a:avLst/>
          </a:prstGeom>
          <a:solidFill>
            <a:srgbClr val="E0B8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300319" y="91440"/>
            <a:ext cx="109728" cy="109728"/>
          </a:xfrm>
          <a:prstGeom prst="roundRect">
            <a:avLst/>
          </a:prstGeom>
          <a:solidFill>
            <a:srgbClr val="788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464911" y="91440"/>
            <a:ext cx="109728" cy="109728"/>
          </a:xfrm>
          <a:prstGeom prst="roundRect">
            <a:avLst/>
          </a:prstGeom>
          <a:solidFill>
            <a:srgbClr val="788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629503" y="91440"/>
            <a:ext cx="109728" cy="109728"/>
          </a:xfrm>
          <a:prstGeom prst="roundRect">
            <a:avLst/>
          </a:prstGeom>
          <a:solidFill>
            <a:srgbClr val="788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5794095" y="91440"/>
            <a:ext cx="109728" cy="109728"/>
          </a:xfrm>
          <a:prstGeom prst="roundRect">
            <a:avLst/>
          </a:prstGeom>
          <a:solidFill>
            <a:srgbClr val="788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958687" y="91440"/>
            <a:ext cx="109728" cy="109728"/>
          </a:xfrm>
          <a:prstGeom prst="roundRect">
            <a:avLst/>
          </a:prstGeom>
          <a:solidFill>
            <a:srgbClr val="788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123279" y="91440"/>
            <a:ext cx="109728" cy="109728"/>
          </a:xfrm>
          <a:prstGeom prst="roundRect">
            <a:avLst/>
          </a:prstGeom>
          <a:solidFill>
            <a:srgbClr val="788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287871" y="91440"/>
            <a:ext cx="109728" cy="109728"/>
          </a:xfrm>
          <a:prstGeom prst="roundRect">
            <a:avLst/>
          </a:prstGeom>
          <a:solidFill>
            <a:srgbClr val="788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452463" y="91440"/>
            <a:ext cx="109728" cy="109728"/>
          </a:xfrm>
          <a:prstGeom prst="roundRect">
            <a:avLst/>
          </a:prstGeom>
          <a:solidFill>
            <a:srgbClr val="788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617055" y="91440"/>
            <a:ext cx="109728" cy="109728"/>
          </a:xfrm>
          <a:prstGeom prst="roundRect">
            <a:avLst/>
          </a:prstGeom>
          <a:solidFill>
            <a:srgbClr val="788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781647" y="91440"/>
            <a:ext cx="109728" cy="109728"/>
          </a:xfrm>
          <a:prstGeom prst="roundRect">
            <a:avLst/>
          </a:prstGeom>
          <a:solidFill>
            <a:srgbClr val="788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946239" y="91440"/>
            <a:ext cx="109728" cy="109728"/>
          </a:xfrm>
          <a:prstGeom prst="roundRect">
            <a:avLst/>
          </a:prstGeom>
          <a:solidFill>
            <a:srgbClr val="788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7110831" y="91440"/>
            <a:ext cx="109728" cy="109728"/>
          </a:xfrm>
          <a:prstGeom prst="roundRect">
            <a:avLst/>
          </a:prstGeom>
          <a:solidFill>
            <a:srgbClr val="788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11480" y="685800"/>
            <a:ext cx="1581912" cy="292608"/>
          </a:xfrm>
          <a:prstGeom prst="roundRect">
            <a:avLst/>
          </a:prstGeom>
          <a:solidFill>
            <a:srgbClr val="1894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11480" y="704088"/>
            <a:ext cx="1581912" cy="256032"/>
          </a:xfrm>
          <a:prstGeom prst="rect">
            <a:avLst/>
          </a:prstGeom>
          <a:noFill/>
        </p:spPr>
        <p:txBody>
          <a:bodyPr wrap="square">
            <a:spAutoFit/>
          </a:bodyPr>
          <a:lstStyle/>
          <a:p>
            <a:pPr algn="ctr"/>
            <a:r>
              <a:rPr sz="1000" b="1" i="0">
                <a:solidFill>
                  <a:srgbClr val="FAFBFA"/>
                </a:solidFill>
                <a:latin typeface="Montserrat"/>
              </a:rPr>
              <a:t>ABOUT RICHMOND</a:t>
            </a:r>
          </a:p>
        </p:txBody>
      </p:sp>
      <p:sp>
        <p:nvSpPr>
          <p:cNvPr id="22" name="TextBox 21"/>
          <p:cNvSpPr txBox="1"/>
          <p:nvPr/>
        </p:nvSpPr>
        <p:spPr>
          <a:xfrm>
            <a:off x="411480" y="1078992"/>
            <a:ext cx="11338560" cy="777240"/>
          </a:xfrm>
          <a:prstGeom prst="rect">
            <a:avLst/>
          </a:prstGeom>
          <a:noFill/>
        </p:spPr>
        <p:txBody>
          <a:bodyPr wrap="square">
            <a:spAutoFit/>
          </a:bodyPr>
          <a:lstStyle/>
          <a:p>
            <a:pPr algn="l"/>
            <a:r>
              <a:rPr sz="2800" b="1" i="0">
                <a:solidFill>
                  <a:srgbClr val="FAFBFA"/>
                </a:solidFill>
                <a:latin typeface="Poppins"/>
              </a:rPr>
              <a:t>Pro athlete. Sales director. AI builder.</a:t>
            </a:r>
          </a:p>
        </p:txBody>
      </p:sp>
      <p:sp>
        <p:nvSpPr>
          <p:cNvPr id="23" name="Rounded Rectangle 22"/>
          <p:cNvSpPr/>
          <p:nvPr/>
        </p:nvSpPr>
        <p:spPr>
          <a:xfrm>
            <a:off x="411480" y="1920240"/>
            <a:ext cx="11338560" cy="1234440"/>
          </a:xfrm>
          <a:prstGeom prst="roundRect">
            <a:avLst/>
          </a:prstGeom>
          <a:solidFill>
            <a:srgbClr val="121626"/>
          </a:solidFill>
          <a:ln w="9525">
            <a:solidFill>
              <a:srgbClr val="E0B8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11480" y="1920240"/>
            <a:ext cx="137160" cy="1234440"/>
          </a:xfrm>
          <a:prstGeom prst="rect">
            <a:avLst/>
          </a:prstGeom>
          <a:solidFill>
            <a:srgbClr val="E0B8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2057400"/>
            <a:ext cx="10972800" cy="411480"/>
          </a:xfrm>
          <a:prstGeom prst="rect">
            <a:avLst/>
          </a:prstGeom>
          <a:noFill/>
        </p:spPr>
        <p:txBody>
          <a:bodyPr wrap="square">
            <a:spAutoFit/>
          </a:bodyPr>
          <a:lstStyle/>
          <a:p>
            <a:pPr algn="l"/>
            <a:r>
              <a:rPr sz="1500" b="1" i="0">
                <a:solidFill>
                  <a:srgbClr val="FAFBFA"/>
                </a:solidFill>
                <a:latin typeface="Montserrat"/>
              </a:rPr>
              <a:t>⚽  Professional soccer</a:t>
            </a:r>
          </a:p>
        </p:txBody>
      </p:sp>
      <p:sp>
        <p:nvSpPr>
          <p:cNvPr id="26" name="TextBox 25"/>
          <p:cNvSpPr txBox="1"/>
          <p:nvPr/>
        </p:nvSpPr>
        <p:spPr>
          <a:xfrm>
            <a:off x="685800" y="2487168"/>
            <a:ext cx="10515600" cy="548640"/>
          </a:xfrm>
          <a:prstGeom prst="rect">
            <a:avLst/>
          </a:prstGeom>
          <a:noFill/>
        </p:spPr>
        <p:txBody>
          <a:bodyPr wrap="square">
            <a:spAutoFit/>
          </a:bodyPr>
          <a:lstStyle/>
          <a:p>
            <a:pPr algn="l"/>
            <a:r>
              <a:rPr sz="1300" b="0" i="0">
                <a:solidFill>
                  <a:srgbClr val="C8CDD7"/>
                </a:solidFill>
                <a:latin typeface="Open Sans"/>
              </a:rPr>
              <a:t>Costa Rica &amp; Spain — then the dream ended, without a plan.</a:t>
            </a:r>
          </a:p>
        </p:txBody>
      </p:sp>
      <p:sp>
        <p:nvSpPr>
          <p:cNvPr id="27" name="Rounded Rectangle 26"/>
          <p:cNvSpPr/>
          <p:nvPr/>
        </p:nvSpPr>
        <p:spPr>
          <a:xfrm>
            <a:off x="411480" y="3383280"/>
            <a:ext cx="11338560" cy="1234440"/>
          </a:xfrm>
          <a:prstGeom prst="roundRect">
            <a:avLst/>
          </a:prstGeom>
          <a:solidFill>
            <a:srgbClr val="121626"/>
          </a:solidFill>
          <a:ln w="9525">
            <a:solidFill>
              <a:srgbClr val="1894C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11480" y="3383280"/>
            <a:ext cx="137160" cy="1234440"/>
          </a:xfrm>
          <a:prstGeom prst="rect">
            <a:avLst/>
          </a:prstGeom>
          <a:solidFill>
            <a:srgbClr val="1894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85800" y="3520440"/>
            <a:ext cx="10972800" cy="411480"/>
          </a:xfrm>
          <a:prstGeom prst="rect">
            <a:avLst/>
          </a:prstGeom>
          <a:noFill/>
        </p:spPr>
        <p:txBody>
          <a:bodyPr wrap="square">
            <a:spAutoFit/>
          </a:bodyPr>
          <a:lstStyle/>
          <a:p>
            <a:pPr algn="l"/>
            <a:r>
              <a:rPr sz="1500" b="1" i="0">
                <a:solidFill>
                  <a:srgbClr val="FAFBFA"/>
                </a:solidFill>
                <a:latin typeface="Montserrat"/>
              </a:rPr>
              <a:t>📈  Director of Sales</a:t>
            </a:r>
          </a:p>
        </p:txBody>
      </p:sp>
      <p:sp>
        <p:nvSpPr>
          <p:cNvPr id="30" name="TextBox 29"/>
          <p:cNvSpPr txBox="1"/>
          <p:nvPr/>
        </p:nvSpPr>
        <p:spPr>
          <a:xfrm>
            <a:off x="685800" y="3950208"/>
            <a:ext cx="10515600" cy="548640"/>
          </a:xfrm>
          <a:prstGeom prst="rect">
            <a:avLst/>
          </a:prstGeom>
          <a:noFill/>
        </p:spPr>
        <p:txBody>
          <a:bodyPr wrap="square">
            <a:spAutoFit/>
          </a:bodyPr>
          <a:lstStyle/>
          <a:p>
            <a:pPr algn="l"/>
            <a:r>
              <a:rPr sz="1300" b="0" i="0">
                <a:solidFill>
                  <a:srgbClr val="C8CDD7"/>
                </a:solidFill>
                <a:latin typeface="Open Sans"/>
              </a:rPr>
              <a:t>Salesforce ecosystem, consulting, GTM strategy — learned the whole system.</a:t>
            </a:r>
          </a:p>
        </p:txBody>
      </p:sp>
      <p:sp>
        <p:nvSpPr>
          <p:cNvPr id="31" name="Rounded Rectangle 30"/>
          <p:cNvSpPr/>
          <p:nvPr/>
        </p:nvSpPr>
        <p:spPr>
          <a:xfrm>
            <a:off x="411480" y="4846320"/>
            <a:ext cx="11338560" cy="1234440"/>
          </a:xfrm>
          <a:prstGeom prst="roundRect">
            <a:avLst/>
          </a:prstGeom>
          <a:solidFill>
            <a:srgbClr val="121626"/>
          </a:solidFill>
          <a:ln w="9525">
            <a:solidFill>
              <a:srgbClr val="E0B8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411480" y="4846320"/>
            <a:ext cx="137160" cy="1234440"/>
          </a:xfrm>
          <a:prstGeom prst="rect">
            <a:avLst/>
          </a:prstGeom>
          <a:solidFill>
            <a:srgbClr val="E0B8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85800" y="4983480"/>
            <a:ext cx="10972800" cy="411480"/>
          </a:xfrm>
          <a:prstGeom prst="rect">
            <a:avLst/>
          </a:prstGeom>
          <a:noFill/>
        </p:spPr>
        <p:txBody>
          <a:bodyPr wrap="square">
            <a:spAutoFit/>
          </a:bodyPr>
          <a:lstStyle/>
          <a:p>
            <a:pPr algn="l"/>
            <a:r>
              <a:rPr sz="1500" b="1" i="0">
                <a:solidFill>
                  <a:srgbClr val="FAFBFA"/>
                </a:solidFill>
                <a:latin typeface="Montserrat"/>
              </a:rPr>
              <a:t>🤖  Built Bishop AI</a:t>
            </a:r>
          </a:p>
        </p:txBody>
      </p:sp>
      <p:sp>
        <p:nvSpPr>
          <p:cNvPr id="34" name="TextBox 33"/>
          <p:cNvSpPr txBox="1"/>
          <p:nvPr/>
        </p:nvSpPr>
        <p:spPr>
          <a:xfrm>
            <a:off x="685800" y="5413248"/>
            <a:ext cx="10515600" cy="548640"/>
          </a:xfrm>
          <a:prstGeom prst="rect">
            <a:avLst/>
          </a:prstGeom>
          <a:noFill/>
        </p:spPr>
        <p:txBody>
          <a:bodyPr wrap="square">
            <a:spAutoFit/>
          </a:bodyPr>
          <a:lstStyle/>
          <a:p>
            <a:pPr algn="l"/>
            <a:r>
              <a:rPr sz="1300" b="0" i="0">
                <a:solidFill>
                  <a:srgbClr val="C8CDD7"/>
                </a:solidFill>
                <a:latin typeface="Open Sans"/>
              </a:rPr>
              <a:t>Got obsessed with the gap between prompts that get mediocre output and prompts that get something actually useful.</a:t>
            </a:r>
          </a:p>
        </p:txBody>
      </p:sp>
      <p:sp>
        <p:nvSpPr>
          <p:cNvPr id="35" name="Rounded Rectangle 34"/>
          <p:cNvSpPr/>
          <p:nvPr/>
        </p:nvSpPr>
        <p:spPr>
          <a:xfrm>
            <a:off x="411480" y="6400800"/>
            <a:ext cx="5838444" cy="292608"/>
          </a:xfrm>
          <a:prstGeom prst="round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11480" y="6419088"/>
            <a:ext cx="5838444" cy="256032"/>
          </a:xfrm>
          <a:prstGeom prst="rect">
            <a:avLst/>
          </a:prstGeom>
          <a:noFill/>
        </p:spPr>
        <p:txBody>
          <a:bodyPr wrap="square">
            <a:spAutoFit/>
          </a:bodyPr>
          <a:lstStyle/>
          <a:p>
            <a:pPr algn="ctr"/>
            <a:r>
              <a:rPr sz="1100" b="1" i="0">
                <a:solidFill>
                  <a:srgbClr val="1894C9"/>
                </a:solidFill>
                <a:latin typeface="Montserrat"/>
              </a:rPr>
              <a:t>CHAT: 1–5 — how much AI are you using in your daily sales work?</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00814"/>
        </a:solidFill>
        <a:effectLst/>
      </p:bgPr>
    </p:bg>
    <p:spTree>
      <p:nvGrpSpPr>
        <p:cNvPr id="1" name=""/>
        <p:cNvGrpSpPr/>
        <p:nvPr/>
      </p:nvGrpSpPr>
      <p:grpSpPr/>
      <p:sp>
        <p:nvSpPr>
          <p:cNvPr id="2" name="TextBox 1"/>
          <p:cNvSpPr txBox="1"/>
          <p:nvPr/>
        </p:nvSpPr>
        <p:spPr>
          <a:xfrm>
            <a:off x="411480" y="164592"/>
            <a:ext cx="1005840" cy="347472"/>
          </a:xfrm>
          <a:prstGeom prst="rect">
            <a:avLst/>
          </a:prstGeom>
          <a:noFill/>
        </p:spPr>
        <p:txBody>
          <a:bodyPr wrap="square">
            <a:spAutoFit/>
          </a:bodyPr>
          <a:lstStyle/>
          <a:p>
            <a:pPr algn="l"/>
            <a:r>
              <a:rPr sz="1500" b="1" i="0">
                <a:solidFill>
                  <a:srgbClr val="FAFBFA"/>
                </a:solidFill>
                <a:latin typeface="Poppins"/>
              </a:rPr>
              <a:t>BISHOP</a:t>
            </a:r>
          </a:p>
        </p:txBody>
      </p:sp>
      <p:sp>
        <p:nvSpPr>
          <p:cNvPr id="3" name="TextBox 2"/>
          <p:cNvSpPr txBox="1"/>
          <p:nvPr/>
        </p:nvSpPr>
        <p:spPr>
          <a:xfrm>
            <a:off x="1371600" y="164592"/>
            <a:ext cx="457200" cy="347472"/>
          </a:xfrm>
          <a:prstGeom prst="rect">
            <a:avLst/>
          </a:prstGeom>
          <a:noFill/>
        </p:spPr>
        <p:txBody>
          <a:bodyPr wrap="square">
            <a:spAutoFit/>
          </a:bodyPr>
          <a:lstStyle/>
          <a:p>
            <a:pPr algn="l"/>
            <a:r>
              <a:rPr sz="1500" b="1" i="0">
                <a:solidFill>
                  <a:srgbClr val="E0B848"/>
                </a:solidFill>
                <a:latin typeface="Poppins"/>
              </a:rPr>
              <a:t>AI</a:t>
            </a:r>
          </a:p>
        </p:txBody>
      </p:sp>
      <p:sp>
        <p:nvSpPr>
          <p:cNvPr id="4" name="Rectangle 3"/>
          <p:cNvSpPr/>
          <p:nvPr/>
        </p:nvSpPr>
        <p:spPr>
          <a:xfrm>
            <a:off x="0" y="6601968"/>
            <a:ext cx="12191695" cy="256032"/>
          </a:xfrm>
          <a:prstGeom prst="rect">
            <a:avLst/>
          </a:prstGeom>
          <a:solidFill>
            <a:srgbClr val="121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620256"/>
            <a:ext cx="11247120" cy="201168"/>
          </a:xfrm>
          <a:prstGeom prst="rect">
            <a:avLst/>
          </a:prstGeom>
          <a:noFill/>
        </p:spPr>
        <p:txBody>
          <a:bodyPr wrap="square">
            <a:spAutoFit/>
          </a:bodyPr>
          <a:lstStyle/>
          <a:p>
            <a:pPr algn="ctr"/>
            <a:r>
              <a:rPr sz="900" b="0" i="0">
                <a:solidFill>
                  <a:srgbClr val="788296"/>
                </a:solidFill>
                <a:latin typeface="Open Sans"/>
              </a:rPr>
              <a:t>PromptAnything.io  ·  BishopAI.com  ·  calendly.com/richmond  ·  Automation Nation</a:t>
            </a:r>
          </a:p>
        </p:txBody>
      </p:sp>
      <p:sp>
        <p:nvSpPr>
          <p:cNvPr id="6" name="Rounded Rectangle 5"/>
          <p:cNvSpPr/>
          <p:nvPr/>
        </p:nvSpPr>
        <p:spPr>
          <a:xfrm>
            <a:off x="4971135" y="91440"/>
            <a:ext cx="109728" cy="109728"/>
          </a:xfrm>
          <a:prstGeom prst="roundRect">
            <a:avLst/>
          </a:prstGeom>
          <a:solidFill>
            <a:srgbClr val="788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135727" y="91440"/>
            <a:ext cx="109728" cy="109728"/>
          </a:xfrm>
          <a:prstGeom prst="roundRect">
            <a:avLst/>
          </a:prstGeom>
          <a:solidFill>
            <a:srgbClr val="788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300319" y="91440"/>
            <a:ext cx="109728" cy="109728"/>
          </a:xfrm>
          <a:prstGeom prst="roundRect">
            <a:avLst/>
          </a:prstGeom>
          <a:solidFill>
            <a:srgbClr val="E0B8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464911" y="91440"/>
            <a:ext cx="109728" cy="109728"/>
          </a:xfrm>
          <a:prstGeom prst="roundRect">
            <a:avLst/>
          </a:prstGeom>
          <a:solidFill>
            <a:srgbClr val="788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629503" y="91440"/>
            <a:ext cx="109728" cy="109728"/>
          </a:xfrm>
          <a:prstGeom prst="roundRect">
            <a:avLst/>
          </a:prstGeom>
          <a:solidFill>
            <a:srgbClr val="788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5794095" y="91440"/>
            <a:ext cx="109728" cy="109728"/>
          </a:xfrm>
          <a:prstGeom prst="roundRect">
            <a:avLst/>
          </a:prstGeom>
          <a:solidFill>
            <a:srgbClr val="788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958687" y="91440"/>
            <a:ext cx="109728" cy="109728"/>
          </a:xfrm>
          <a:prstGeom prst="roundRect">
            <a:avLst/>
          </a:prstGeom>
          <a:solidFill>
            <a:srgbClr val="788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123279" y="91440"/>
            <a:ext cx="109728" cy="109728"/>
          </a:xfrm>
          <a:prstGeom prst="roundRect">
            <a:avLst/>
          </a:prstGeom>
          <a:solidFill>
            <a:srgbClr val="788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287871" y="91440"/>
            <a:ext cx="109728" cy="109728"/>
          </a:xfrm>
          <a:prstGeom prst="roundRect">
            <a:avLst/>
          </a:prstGeom>
          <a:solidFill>
            <a:srgbClr val="788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452463" y="91440"/>
            <a:ext cx="109728" cy="109728"/>
          </a:xfrm>
          <a:prstGeom prst="roundRect">
            <a:avLst/>
          </a:prstGeom>
          <a:solidFill>
            <a:srgbClr val="788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617055" y="91440"/>
            <a:ext cx="109728" cy="109728"/>
          </a:xfrm>
          <a:prstGeom prst="roundRect">
            <a:avLst/>
          </a:prstGeom>
          <a:solidFill>
            <a:srgbClr val="788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781647" y="91440"/>
            <a:ext cx="109728" cy="109728"/>
          </a:xfrm>
          <a:prstGeom prst="roundRect">
            <a:avLst/>
          </a:prstGeom>
          <a:solidFill>
            <a:srgbClr val="788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946239" y="91440"/>
            <a:ext cx="109728" cy="109728"/>
          </a:xfrm>
          <a:prstGeom prst="roundRect">
            <a:avLst/>
          </a:prstGeom>
          <a:solidFill>
            <a:srgbClr val="788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7110831" y="91440"/>
            <a:ext cx="109728" cy="109728"/>
          </a:xfrm>
          <a:prstGeom prst="roundRect">
            <a:avLst/>
          </a:prstGeom>
          <a:solidFill>
            <a:srgbClr val="788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11480" y="685800"/>
            <a:ext cx="1060704" cy="292608"/>
          </a:xfrm>
          <a:prstGeom prst="roundRect">
            <a:avLst/>
          </a:prstGeom>
          <a:solidFill>
            <a:srgbClr val="1894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11480" y="704088"/>
            <a:ext cx="1060704" cy="256032"/>
          </a:xfrm>
          <a:prstGeom prst="rect">
            <a:avLst/>
          </a:prstGeom>
          <a:noFill/>
        </p:spPr>
        <p:txBody>
          <a:bodyPr wrap="square">
            <a:spAutoFit/>
          </a:bodyPr>
          <a:lstStyle/>
          <a:p>
            <a:pPr algn="ctr"/>
            <a:r>
              <a:rPr sz="1000" b="1" i="0">
                <a:solidFill>
                  <a:srgbClr val="FAFBFA"/>
                </a:solidFill>
                <a:latin typeface="Montserrat"/>
              </a:rPr>
              <a:t>THE DATA</a:t>
            </a:r>
          </a:p>
        </p:txBody>
      </p:sp>
      <p:sp>
        <p:nvSpPr>
          <p:cNvPr id="22" name="TextBox 21"/>
          <p:cNvSpPr txBox="1"/>
          <p:nvPr/>
        </p:nvSpPr>
        <p:spPr>
          <a:xfrm>
            <a:off x="411480" y="1078992"/>
            <a:ext cx="11338560" cy="777240"/>
          </a:xfrm>
          <a:prstGeom prst="rect">
            <a:avLst/>
          </a:prstGeom>
          <a:noFill/>
        </p:spPr>
        <p:txBody>
          <a:bodyPr wrap="square">
            <a:spAutoFit/>
          </a:bodyPr>
          <a:lstStyle/>
          <a:p>
            <a:pPr algn="l"/>
            <a:r>
              <a:rPr sz="2800" b="1" i="0">
                <a:solidFill>
                  <a:srgbClr val="FAFBFA"/>
                </a:solidFill>
                <a:latin typeface="Poppins"/>
              </a:rPr>
              <a:t>You're only selling for 28% of your week.</a:t>
            </a:r>
          </a:p>
        </p:txBody>
      </p:sp>
      <p:sp>
        <p:nvSpPr>
          <p:cNvPr id="23" name="Rounded Rectangle 22"/>
          <p:cNvSpPr/>
          <p:nvPr/>
        </p:nvSpPr>
        <p:spPr>
          <a:xfrm>
            <a:off x="411480" y="1828800"/>
            <a:ext cx="2651760" cy="3017520"/>
          </a:xfrm>
          <a:prstGeom prst="roundRect">
            <a:avLst/>
          </a:prstGeom>
          <a:solidFill>
            <a:srgbClr val="121626"/>
          </a:solidFill>
          <a:ln w="6350">
            <a:solidFill>
              <a:srgbClr val="1064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411480" y="1828800"/>
            <a:ext cx="2651760" cy="73152"/>
          </a:xfrm>
          <a:prstGeom prst="roundRect">
            <a:avLst/>
          </a:prstGeom>
          <a:solidFill>
            <a:srgbClr val="E0B8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11480" y="1993392"/>
            <a:ext cx="2651760" cy="1005840"/>
          </a:xfrm>
          <a:prstGeom prst="rect">
            <a:avLst/>
          </a:prstGeom>
          <a:noFill/>
        </p:spPr>
        <p:txBody>
          <a:bodyPr wrap="square">
            <a:spAutoFit/>
          </a:bodyPr>
          <a:lstStyle/>
          <a:p>
            <a:pPr algn="ctr"/>
            <a:r>
              <a:rPr sz="5200" b="1" i="0">
                <a:solidFill>
                  <a:srgbClr val="E0B848"/>
                </a:solidFill>
                <a:latin typeface="Poppins"/>
              </a:rPr>
              <a:t>28%</a:t>
            </a:r>
          </a:p>
        </p:txBody>
      </p:sp>
      <p:sp>
        <p:nvSpPr>
          <p:cNvPr id="26" name="TextBox 25"/>
          <p:cNvSpPr txBox="1"/>
          <p:nvPr/>
        </p:nvSpPr>
        <p:spPr>
          <a:xfrm>
            <a:off x="548640" y="3063240"/>
            <a:ext cx="2377440" cy="594360"/>
          </a:xfrm>
          <a:prstGeom prst="rect">
            <a:avLst/>
          </a:prstGeom>
          <a:noFill/>
        </p:spPr>
        <p:txBody>
          <a:bodyPr wrap="square">
            <a:spAutoFit/>
          </a:bodyPr>
          <a:lstStyle/>
          <a:p>
            <a:pPr algn="ctr"/>
            <a:r>
              <a:rPr sz="1300" b="0" i="0">
                <a:solidFill>
                  <a:srgbClr val="C8CDD7"/>
                </a:solidFill>
                <a:latin typeface="Open Sans"/>
              </a:rPr>
              <a:t>actual selling time</a:t>
            </a:r>
          </a:p>
        </p:txBody>
      </p:sp>
      <p:sp>
        <p:nvSpPr>
          <p:cNvPr id="27" name="Rounded Rectangle 26"/>
          <p:cNvSpPr/>
          <p:nvPr/>
        </p:nvSpPr>
        <p:spPr>
          <a:xfrm>
            <a:off x="1005840" y="4462272"/>
            <a:ext cx="1668780" cy="292608"/>
          </a:xfrm>
          <a:prstGeom prst="roundRect">
            <a:avLst/>
          </a:prstGeom>
          <a:solidFill>
            <a:srgbClr val="14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05840" y="4480560"/>
            <a:ext cx="1668780" cy="256032"/>
          </a:xfrm>
          <a:prstGeom prst="rect">
            <a:avLst/>
          </a:prstGeom>
          <a:noFill/>
        </p:spPr>
        <p:txBody>
          <a:bodyPr wrap="square">
            <a:spAutoFit/>
          </a:bodyPr>
          <a:lstStyle/>
          <a:p>
            <a:pPr algn="ctr"/>
            <a:r>
              <a:rPr sz="900" b="1" i="0">
                <a:solidFill>
                  <a:srgbClr val="788296"/>
                </a:solidFill>
                <a:latin typeface="Montserrat"/>
              </a:rPr>
              <a:t>Salesforce 2025</a:t>
            </a:r>
          </a:p>
        </p:txBody>
      </p:sp>
      <p:sp>
        <p:nvSpPr>
          <p:cNvPr id="29" name="Rounded Rectangle 28"/>
          <p:cNvSpPr/>
          <p:nvPr/>
        </p:nvSpPr>
        <p:spPr>
          <a:xfrm>
            <a:off x="3218688" y="1828800"/>
            <a:ext cx="2651760" cy="3017520"/>
          </a:xfrm>
          <a:prstGeom prst="roundRect">
            <a:avLst/>
          </a:prstGeom>
          <a:solidFill>
            <a:srgbClr val="121626"/>
          </a:solidFill>
          <a:ln w="6350">
            <a:solidFill>
              <a:srgbClr val="1064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3218688" y="1828800"/>
            <a:ext cx="2651760" cy="73152"/>
          </a:xfrm>
          <a:prstGeom prst="roundRect">
            <a:avLst/>
          </a:prstGeom>
          <a:solidFill>
            <a:srgbClr val="DC5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218688" y="1993392"/>
            <a:ext cx="2651760" cy="1005840"/>
          </a:xfrm>
          <a:prstGeom prst="rect">
            <a:avLst/>
          </a:prstGeom>
          <a:noFill/>
        </p:spPr>
        <p:txBody>
          <a:bodyPr wrap="square">
            <a:spAutoFit/>
          </a:bodyPr>
          <a:lstStyle/>
          <a:p>
            <a:pPr algn="ctr"/>
            <a:r>
              <a:rPr sz="5200" b="1" i="0">
                <a:solidFill>
                  <a:srgbClr val="DC5050"/>
                </a:solidFill>
                <a:latin typeface="Poppins"/>
              </a:rPr>
              <a:t>78%</a:t>
            </a:r>
          </a:p>
        </p:txBody>
      </p:sp>
      <p:sp>
        <p:nvSpPr>
          <p:cNvPr id="32" name="TextBox 31"/>
          <p:cNvSpPr txBox="1"/>
          <p:nvPr/>
        </p:nvSpPr>
        <p:spPr>
          <a:xfrm>
            <a:off x="3355848" y="3063240"/>
            <a:ext cx="2377440" cy="594360"/>
          </a:xfrm>
          <a:prstGeom prst="rect">
            <a:avLst/>
          </a:prstGeom>
          <a:noFill/>
        </p:spPr>
        <p:txBody>
          <a:bodyPr wrap="square">
            <a:spAutoFit/>
          </a:bodyPr>
          <a:lstStyle/>
          <a:p>
            <a:pPr algn="ctr"/>
            <a:r>
              <a:rPr sz="1300" b="0" i="0">
                <a:solidFill>
                  <a:srgbClr val="C8CDD7"/>
                </a:solidFill>
                <a:latin typeface="Open Sans"/>
              </a:rPr>
              <a:t>missed quota ↑ from 69%</a:t>
            </a:r>
          </a:p>
        </p:txBody>
      </p:sp>
      <p:sp>
        <p:nvSpPr>
          <p:cNvPr id="33" name="Rounded Rectangle 32"/>
          <p:cNvSpPr/>
          <p:nvPr/>
        </p:nvSpPr>
        <p:spPr>
          <a:xfrm>
            <a:off x="3813048" y="4462272"/>
            <a:ext cx="1755648" cy="292608"/>
          </a:xfrm>
          <a:prstGeom prst="roundRect">
            <a:avLst/>
          </a:prstGeom>
          <a:solidFill>
            <a:srgbClr val="14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813048" y="4480560"/>
            <a:ext cx="1755648" cy="256032"/>
          </a:xfrm>
          <a:prstGeom prst="rect">
            <a:avLst/>
          </a:prstGeom>
          <a:noFill/>
        </p:spPr>
        <p:txBody>
          <a:bodyPr wrap="square">
            <a:spAutoFit/>
          </a:bodyPr>
          <a:lstStyle/>
          <a:p>
            <a:pPr algn="ctr"/>
            <a:r>
              <a:rPr sz="900" b="1" i="0">
                <a:solidFill>
                  <a:srgbClr val="788296"/>
                </a:solidFill>
                <a:latin typeface="Montserrat"/>
              </a:rPr>
              <a:t>Salesmotion 2025</a:t>
            </a:r>
          </a:p>
        </p:txBody>
      </p:sp>
      <p:sp>
        <p:nvSpPr>
          <p:cNvPr id="35" name="Rounded Rectangle 34"/>
          <p:cNvSpPr/>
          <p:nvPr/>
        </p:nvSpPr>
        <p:spPr>
          <a:xfrm>
            <a:off x="6025896" y="1828800"/>
            <a:ext cx="2651760" cy="3017520"/>
          </a:xfrm>
          <a:prstGeom prst="roundRect">
            <a:avLst/>
          </a:prstGeom>
          <a:solidFill>
            <a:srgbClr val="121626"/>
          </a:solidFill>
          <a:ln w="6350">
            <a:solidFill>
              <a:srgbClr val="1064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6025896" y="1828800"/>
            <a:ext cx="2651760" cy="73152"/>
          </a:xfrm>
          <a:prstGeom prst="roundRect">
            <a:avLst/>
          </a:prstGeom>
          <a:solidFill>
            <a:srgbClr val="1894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025896" y="1993392"/>
            <a:ext cx="2651760" cy="1005840"/>
          </a:xfrm>
          <a:prstGeom prst="rect">
            <a:avLst/>
          </a:prstGeom>
          <a:noFill/>
        </p:spPr>
        <p:txBody>
          <a:bodyPr wrap="square">
            <a:spAutoFit/>
          </a:bodyPr>
          <a:lstStyle/>
          <a:p>
            <a:pPr algn="ctr"/>
            <a:r>
              <a:rPr sz="5200" b="1" i="0">
                <a:solidFill>
                  <a:srgbClr val="1894C9"/>
                </a:solidFill>
                <a:latin typeface="Poppins"/>
              </a:rPr>
              <a:t>3.7x</a:t>
            </a:r>
          </a:p>
        </p:txBody>
      </p:sp>
      <p:sp>
        <p:nvSpPr>
          <p:cNvPr id="38" name="TextBox 37"/>
          <p:cNvSpPr txBox="1"/>
          <p:nvPr/>
        </p:nvSpPr>
        <p:spPr>
          <a:xfrm>
            <a:off x="6163056" y="3063240"/>
            <a:ext cx="2377440" cy="594360"/>
          </a:xfrm>
          <a:prstGeom prst="rect">
            <a:avLst/>
          </a:prstGeom>
          <a:noFill/>
        </p:spPr>
        <p:txBody>
          <a:bodyPr wrap="square">
            <a:spAutoFit/>
          </a:bodyPr>
          <a:lstStyle/>
          <a:p>
            <a:pPr algn="ctr"/>
            <a:r>
              <a:rPr sz="1300" b="0" i="0">
                <a:solidFill>
                  <a:srgbClr val="C8CDD7"/>
                </a:solidFill>
                <a:latin typeface="Open Sans"/>
              </a:rPr>
              <a:t>quota with structured AI use</a:t>
            </a:r>
          </a:p>
        </p:txBody>
      </p:sp>
      <p:sp>
        <p:nvSpPr>
          <p:cNvPr id="39" name="Rounded Rectangle 38"/>
          <p:cNvSpPr/>
          <p:nvPr/>
        </p:nvSpPr>
        <p:spPr>
          <a:xfrm>
            <a:off x="6620256" y="4462272"/>
            <a:ext cx="1408176" cy="292608"/>
          </a:xfrm>
          <a:prstGeom prst="roundRect">
            <a:avLst/>
          </a:prstGeom>
          <a:solidFill>
            <a:srgbClr val="14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620256" y="4480560"/>
            <a:ext cx="1408176" cy="256032"/>
          </a:xfrm>
          <a:prstGeom prst="rect">
            <a:avLst/>
          </a:prstGeom>
          <a:noFill/>
        </p:spPr>
        <p:txBody>
          <a:bodyPr wrap="square">
            <a:spAutoFit/>
          </a:bodyPr>
          <a:lstStyle/>
          <a:p>
            <a:pPr algn="ctr"/>
            <a:r>
              <a:rPr sz="900" b="1" i="0">
                <a:solidFill>
                  <a:srgbClr val="788296"/>
                </a:solidFill>
                <a:latin typeface="Montserrat"/>
              </a:rPr>
              <a:t>Gartner 2025</a:t>
            </a:r>
          </a:p>
        </p:txBody>
      </p:sp>
      <p:sp>
        <p:nvSpPr>
          <p:cNvPr id="41" name="Rounded Rectangle 40"/>
          <p:cNvSpPr/>
          <p:nvPr/>
        </p:nvSpPr>
        <p:spPr>
          <a:xfrm>
            <a:off x="8833104" y="1828800"/>
            <a:ext cx="2651760" cy="3017520"/>
          </a:xfrm>
          <a:prstGeom prst="roundRect">
            <a:avLst/>
          </a:prstGeom>
          <a:solidFill>
            <a:srgbClr val="121626"/>
          </a:solidFill>
          <a:ln w="6350">
            <a:solidFill>
              <a:srgbClr val="1064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ounded Rectangle 41"/>
          <p:cNvSpPr/>
          <p:nvPr/>
        </p:nvSpPr>
        <p:spPr>
          <a:xfrm>
            <a:off x="8833104" y="1828800"/>
            <a:ext cx="2651760" cy="73152"/>
          </a:xfrm>
          <a:prstGeom prst="roundRect">
            <a:avLst/>
          </a:prstGeom>
          <a:solidFill>
            <a:srgbClr val="1894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833104" y="1993392"/>
            <a:ext cx="2651760" cy="1005840"/>
          </a:xfrm>
          <a:prstGeom prst="rect">
            <a:avLst/>
          </a:prstGeom>
          <a:noFill/>
        </p:spPr>
        <p:txBody>
          <a:bodyPr wrap="square">
            <a:spAutoFit/>
          </a:bodyPr>
          <a:lstStyle/>
          <a:p>
            <a:pPr algn="ctr"/>
            <a:r>
              <a:rPr sz="5200" b="1" i="0">
                <a:solidFill>
                  <a:srgbClr val="1894C9"/>
                </a:solidFill>
                <a:latin typeface="Poppins"/>
              </a:rPr>
              <a:t>2x</a:t>
            </a:r>
          </a:p>
        </p:txBody>
      </p:sp>
      <p:sp>
        <p:nvSpPr>
          <p:cNvPr id="44" name="TextBox 43"/>
          <p:cNvSpPr txBox="1"/>
          <p:nvPr/>
        </p:nvSpPr>
        <p:spPr>
          <a:xfrm>
            <a:off x="8970264" y="3063240"/>
            <a:ext cx="2377440" cy="594360"/>
          </a:xfrm>
          <a:prstGeom prst="rect">
            <a:avLst/>
          </a:prstGeom>
          <a:noFill/>
        </p:spPr>
        <p:txBody>
          <a:bodyPr wrap="square">
            <a:spAutoFit/>
          </a:bodyPr>
          <a:lstStyle/>
          <a:p>
            <a:pPr algn="ctr"/>
            <a:r>
              <a:rPr sz="1300" b="0" i="0">
                <a:solidFill>
                  <a:srgbClr val="C8CDD7"/>
                </a:solidFill>
                <a:latin typeface="Open Sans"/>
              </a:rPr>
              <a:t>more likely to exceed target</a:t>
            </a:r>
          </a:p>
        </p:txBody>
      </p:sp>
      <p:sp>
        <p:nvSpPr>
          <p:cNvPr id="45" name="Rounded Rectangle 44"/>
          <p:cNvSpPr/>
          <p:nvPr/>
        </p:nvSpPr>
        <p:spPr>
          <a:xfrm>
            <a:off x="9427464" y="4462272"/>
            <a:ext cx="1495044" cy="292608"/>
          </a:xfrm>
          <a:prstGeom prst="roundRect">
            <a:avLst/>
          </a:prstGeom>
          <a:solidFill>
            <a:srgbClr val="14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9427464" y="4480560"/>
            <a:ext cx="1495044" cy="256032"/>
          </a:xfrm>
          <a:prstGeom prst="rect">
            <a:avLst/>
          </a:prstGeom>
          <a:noFill/>
        </p:spPr>
        <p:txBody>
          <a:bodyPr wrap="square">
            <a:spAutoFit/>
          </a:bodyPr>
          <a:lstStyle/>
          <a:p>
            <a:pPr algn="ctr"/>
            <a:r>
              <a:rPr sz="900" b="1" i="0">
                <a:solidFill>
                  <a:srgbClr val="788296"/>
                </a:solidFill>
                <a:latin typeface="Montserrat"/>
              </a:rPr>
              <a:t>LinkedIn 2025</a:t>
            </a:r>
          </a:p>
        </p:txBody>
      </p:sp>
      <p:sp>
        <p:nvSpPr>
          <p:cNvPr id="47" name="Rounded Rectangle 46"/>
          <p:cNvSpPr/>
          <p:nvPr/>
        </p:nvSpPr>
        <p:spPr>
          <a:xfrm>
            <a:off x="411480" y="5029200"/>
            <a:ext cx="11338560" cy="822960"/>
          </a:xfrm>
          <a:prstGeom prst="roundRect">
            <a:avLst/>
          </a:prstGeom>
          <a:solidFill>
            <a:srgbClr val="121626"/>
          </a:solidFill>
          <a:ln w="9525">
            <a:solidFill>
              <a:srgbClr val="1064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594360" y="5120640"/>
            <a:ext cx="10972800" cy="640080"/>
          </a:xfrm>
          <a:prstGeom prst="rect">
            <a:avLst/>
          </a:prstGeom>
          <a:noFill/>
        </p:spPr>
        <p:txBody>
          <a:bodyPr wrap="square">
            <a:spAutoFit/>
          </a:bodyPr>
          <a:lstStyle/>
          <a:p>
            <a:pPr algn="ctr"/>
            <a:r>
              <a:rPr sz="1300" b="0" i="0">
                <a:solidFill>
                  <a:srgbClr val="C8CDD7"/>
                </a:solidFill>
                <a:latin typeface="Open Sans"/>
              </a:rPr>
              <a:t>We're targeting the 3 biggest drains today:  LinkedIn content  ·  Inbox management (21% of your day)  ·  Pre-call research (30–60 min, usually skipped)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00814"/>
        </a:solidFill>
        <a:effectLst/>
      </p:bgPr>
    </p:bg>
    <p:spTree>
      <p:nvGrpSpPr>
        <p:cNvPr id="1" name=""/>
        <p:cNvGrpSpPr/>
        <p:nvPr/>
      </p:nvGrpSpPr>
      <p:grpSpPr/>
      <p:sp>
        <p:nvSpPr>
          <p:cNvPr id="2" name="TextBox 1"/>
          <p:cNvSpPr txBox="1"/>
          <p:nvPr/>
        </p:nvSpPr>
        <p:spPr>
          <a:xfrm>
            <a:off x="411480" y="164592"/>
            <a:ext cx="1005840" cy="347472"/>
          </a:xfrm>
          <a:prstGeom prst="rect">
            <a:avLst/>
          </a:prstGeom>
          <a:noFill/>
        </p:spPr>
        <p:txBody>
          <a:bodyPr wrap="square">
            <a:spAutoFit/>
          </a:bodyPr>
          <a:lstStyle/>
          <a:p>
            <a:pPr algn="l"/>
            <a:r>
              <a:rPr sz="1500" b="1" i="0">
                <a:solidFill>
                  <a:srgbClr val="FAFBFA"/>
                </a:solidFill>
                <a:latin typeface="Poppins"/>
              </a:rPr>
              <a:t>BISHOP</a:t>
            </a:r>
          </a:p>
        </p:txBody>
      </p:sp>
      <p:sp>
        <p:nvSpPr>
          <p:cNvPr id="3" name="TextBox 2"/>
          <p:cNvSpPr txBox="1"/>
          <p:nvPr/>
        </p:nvSpPr>
        <p:spPr>
          <a:xfrm>
            <a:off x="1371600" y="164592"/>
            <a:ext cx="457200" cy="347472"/>
          </a:xfrm>
          <a:prstGeom prst="rect">
            <a:avLst/>
          </a:prstGeom>
          <a:noFill/>
        </p:spPr>
        <p:txBody>
          <a:bodyPr wrap="square">
            <a:spAutoFit/>
          </a:bodyPr>
          <a:lstStyle/>
          <a:p>
            <a:pPr algn="l"/>
            <a:r>
              <a:rPr sz="1500" b="1" i="0">
                <a:solidFill>
                  <a:srgbClr val="E0B848"/>
                </a:solidFill>
                <a:latin typeface="Poppins"/>
              </a:rPr>
              <a:t>AI</a:t>
            </a:r>
          </a:p>
        </p:txBody>
      </p:sp>
      <p:sp>
        <p:nvSpPr>
          <p:cNvPr id="4" name="Rectangle 3"/>
          <p:cNvSpPr/>
          <p:nvPr/>
        </p:nvSpPr>
        <p:spPr>
          <a:xfrm>
            <a:off x="0" y="6601968"/>
            <a:ext cx="12191695" cy="256032"/>
          </a:xfrm>
          <a:prstGeom prst="rect">
            <a:avLst/>
          </a:prstGeom>
          <a:solidFill>
            <a:srgbClr val="121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620256"/>
            <a:ext cx="11247120" cy="201168"/>
          </a:xfrm>
          <a:prstGeom prst="rect">
            <a:avLst/>
          </a:prstGeom>
          <a:noFill/>
        </p:spPr>
        <p:txBody>
          <a:bodyPr wrap="square">
            <a:spAutoFit/>
          </a:bodyPr>
          <a:lstStyle/>
          <a:p>
            <a:pPr algn="ctr"/>
            <a:r>
              <a:rPr sz="900" b="0" i="0">
                <a:solidFill>
                  <a:srgbClr val="788296"/>
                </a:solidFill>
                <a:latin typeface="Open Sans"/>
              </a:rPr>
              <a:t>PromptAnything.io  ·  BishopAI.com  ·  calendly.com/richmond  ·  Automation Nation</a:t>
            </a:r>
          </a:p>
        </p:txBody>
      </p:sp>
      <p:sp>
        <p:nvSpPr>
          <p:cNvPr id="6" name="Rounded Rectangle 5"/>
          <p:cNvSpPr/>
          <p:nvPr/>
        </p:nvSpPr>
        <p:spPr>
          <a:xfrm>
            <a:off x="4971135" y="91440"/>
            <a:ext cx="109728" cy="109728"/>
          </a:xfrm>
          <a:prstGeom prst="roundRect">
            <a:avLst/>
          </a:prstGeom>
          <a:solidFill>
            <a:srgbClr val="788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135727" y="91440"/>
            <a:ext cx="109728" cy="109728"/>
          </a:xfrm>
          <a:prstGeom prst="roundRect">
            <a:avLst/>
          </a:prstGeom>
          <a:solidFill>
            <a:srgbClr val="788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300319" y="91440"/>
            <a:ext cx="109728" cy="109728"/>
          </a:xfrm>
          <a:prstGeom prst="roundRect">
            <a:avLst/>
          </a:prstGeom>
          <a:solidFill>
            <a:srgbClr val="788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464911" y="91440"/>
            <a:ext cx="109728" cy="109728"/>
          </a:xfrm>
          <a:prstGeom prst="roundRect">
            <a:avLst/>
          </a:prstGeom>
          <a:solidFill>
            <a:srgbClr val="E0B8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629503" y="91440"/>
            <a:ext cx="109728" cy="109728"/>
          </a:xfrm>
          <a:prstGeom prst="roundRect">
            <a:avLst/>
          </a:prstGeom>
          <a:solidFill>
            <a:srgbClr val="788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5794095" y="91440"/>
            <a:ext cx="109728" cy="109728"/>
          </a:xfrm>
          <a:prstGeom prst="roundRect">
            <a:avLst/>
          </a:prstGeom>
          <a:solidFill>
            <a:srgbClr val="788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958687" y="91440"/>
            <a:ext cx="109728" cy="109728"/>
          </a:xfrm>
          <a:prstGeom prst="roundRect">
            <a:avLst/>
          </a:prstGeom>
          <a:solidFill>
            <a:srgbClr val="788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123279" y="91440"/>
            <a:ext cx="109728" cy="109728"/>
          </a:xfrm>
          <a:prstGeom prst="roundRect">
            <a:avLst/>
          </a:prstGeom>
          <a:solidFill>
            <a:srgbClr val="788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287871" y="91440"/>
            <a:ext cx="109728" cy="109728"/>
          </a:xfrm>
          <a:prstGeom prst="roundRect">
            <a:avLst/>
          </a:prstGeom>
          <a:solidFill>
            <a:srgbClr val="788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452463" y="91440"/>
            <a:ext cx="109728" cy="109728"/>
          </a:xfrm>
          <a:prstGeom prst="roundRect">
            <a:avLst/>
          </a:prstGeom>
          <a:solidFill>
            <a:srgbClr val="788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617055" y="91440"/>
            <a:ext cx="109728" cy="109728"/>
          </a:xfrm>
          <a:prstGeom prst="roundRect">
            <a:avLst/>
          </a:prstGeom>
          <a:solidFill>
            <a:srgbClr val="788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781647" y="91440"/>
            <a:ext cx="109728" cy="109728"/>
          </a:xfrm>
          <a:prstGeom prst="roundRect">
            <a:avLst/>
          </a:prstGeom>
          <a:solidFill>
            <a:srgbClr val="788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946239" y="91440"/>
            <a:ext cx="109728" cy="109728"/>
          </a:xfrm>
          <a:prstGeom prst="roundRect">
            <a:avLst/>
          </a:prstGeom>
          <a:solidFill>
            <a:srgbClr val="788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7110831" y="91440"/>
            <a:ext cx="109728" cy="109728"/>
          </a:xfrm>
          <a:prstGeom prst="roundRect">
            <a:avLst/>
          </a:prstGeom>
          <a:solidFill>
            <a:srgbClr val="788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11480" y="685800"/>
            <a:ext cx="1147572" cy="292608"/>
          </a:xfrm>
          <a:prstGeom prst="roundRect">
            <a:avLst/>
          </a:prstGeom>
          <a:solidFill>
            <a:srgbClr val="1894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11480" y="704088"/>
            <a:ext cx="1147572" cy="256032"/>
          </a:xfrm>
          <a:prstGeom prst="rect">
            <a:avLst/>
          </a:prstGeom>
          <a:noFill/>
        </p:spPr>
        <p:txBody>
          <a:bodyPr wrap="square">
            <a:spAutoFit/>
          </a:bodyPr>
          <a:lstStyle/>
          <a:p>
            <a:pPr algn="ctr"/>
            <a:r>
              <a:rPr sz="1000" b="1" i="0">
                <a:solidFill>
                  <a:srgbClr val="FAFBFA"/>
                </a:solidFill>
                <a:latin typeface="Montserrat"/>
              </a:rPr>
              <a:t>FRAMEWORK</a:t>
            </a:r>
          </a:p>
        </p:txBody>
      </p:sp>
      <p:sp>
        <p:nvSpPr>
          <p:cNvPr id="22" name="TextBox 21"/>
          <p:cNvSpPr txBox="1"/>
          <p:nvPr/>
        </p:nvSpPr>
        <p:spPr>
          <a:xfrm>
            <a:off x="411480" y="1078992"/>
            <a:ext cx="11338560" cy="777240"/>
          </a:xfrm>
          <a:prstGeom prst="rect">
            <a:avLst/>
          </a:prstGeom>
          <a:noFill/>
        </p:spPr>
        <p:txBody>
          <a:bodyPr wrap="square">
            <a:spAutoFit/>
          </a:bodyPr>
          <a:lstStyle/>
          <a:p>
            <a:pPr algn="l"/>
            <a:r>
              <a:rPr sz="2700" b="1" i="0">
                <a:solidFill>
                  <a:srgbClr val="FAFBFA"/>
                </a:solidFill>
                <a:latin typeface="Poppins"/>
              </a:rPr>
              <a:t>Every prompt has 4 layers. Most people only use 1.</a:t>
            </a:r>
          </a:p>
        </p:txBody>
      </p:sp>
      <p:sp>
        <p:nvSpPr>
          <p:cNvPr id="23" name="Rounded Rectangle 22"/>
          <p:cNvSpPr/>
          <p:nvPr/>
        </p:nvSpPr>
        <p:spPr>
          <a:xfrm>
            <a:off x="411480" y="1874519"/>
            <a:ext cx="11338560" cy="1005840"/>
          </a:xfrm>
          <a:prstGeom prst="roundRect">
            <a:avLst/>
          </a:prstGeom>
          <a:solidFill>
            <a:srgbClr val="121626"/>
          </a:solidFill>
          <a:ln w="6350">
            <a:solidFill>
              <a:srgbClr val="E0B8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411480" y="1874519"/>
            <a:ext cx="128016" cy="1005840"/>
          </a:xfrm>
          <a:prstGeom prst="roundRect">
            <a:avLst/>
          </a:prstGeom>
          <a:solidFill>
            <a:srgbClr val="E0B8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58368" y="2167127"/>
            <a:ext cx="886968" cy="292608"/>
          </a:xfrm>
          <a:prstGeom prst="roundRect">
            <a:avLst/>
          </a:prstGeom>
          <a:solidFill>
            <a:srgbClr val="E0B8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8368" y="2185415"/>
            <a:ext cx="886968" cy="256032"/>
          </a:xfrm>
          <a:prstGeom prst="rect">
            <a:avLst/>
          </a:prstGeom>
          <a:noFill/>
        </p:spPr>
        <p:txBody>
          <a:bodyPr wrap="square">
            <a:spAutoFit/>
          </a:bodyPr>
          <a:lstStyle/>
          <a:p>
            <a:pPr algn="ctr"/>
            <a:r>
              <a:rPr sz="1000" b="1" i="0">
                <a:solidFill>
                  <a:srgbClr val="000814"/>
                </a:solidFill>
                <a:latin typeface="Montserrat"/>
              </a:rPr>
              <a:t>SYSTEM</a:t>
            </a:r>
          </a:p>
        </p:txBody>
      </p:sp>
      <p:sp>
        <p:nvSpPr>
          <p:cNvPr id="27" name="TextBox 26"/>
          <p:cNvSpPr txBox="1"/>
          <p:nvPr/>
        </p:nvSpPr>
        <p:spPr>
          <a:xfrm>
            <a:off x="1828800" y="2039111"/>
            <a:ext cx="2286000" cy="347472"/>
          </a:xfrm>
          <a:prstGeom prst="rect">
            <a:avLst/>
          </a:prstGeom>
          <a:noFill/>
        </p:spPr>
        <p:txBody>
          <a:bodyPr wrap="square">
            <a:spAutoFit/>
          </a:bodyPr>
          <a:lstStyle/>
          <a:p>
            <a:pPr algn="l"/>
            <a:r>
              <a:rPr sz="1300" b="1" i="0">
                <a:solidFill>
                  <a:srgbClr val="FAFBFA"/>
                </a:solidFill>
                <a:latin typeface="Montserrat"/>
              </a:rPr>
              <a:t>Who the AI is</a:t>
            </a:r>
          </a:p>
        </p:txBody>
      </p:sp>
      <p:sp>
        <p:nvSpPr>
          <p:cNvPr id="28" name="TextBox 27"/>
          <p:cNvSpPr txBox="1"/>
          <p:nvPr/>
        </p:nvSpPr>
        <p:spPr>
          <a:xfrm>
            <a:off x="4297680" y="2057399"/>
            <a:ext cx="7315200" cy="621792"/>
          </a:xfrm>
          <a:prstGeom prst="rect">
            <a:avLst/>
          </a:prstGeom>
          <a:noFill/>
        </p:spPr>
        <p:txBody>
          <a:bodyPr wrap="square">
            <a:spAutoFit/>
          </a:bodyPr>
          <a:lstStyle/>
          <a:p>
            <a:pPr algn="l"/>
            <a:r>
              <a:rPr sz="1300" b="0" i="0">
                <a:solidFill>
                  <a:srgbClr val="C8CDD7"/>
                </a:solidFill>
                <a:latin typeface="Open Sans"/>
              </a:rPr>
              <a:t>Role, expertise, tone, rules. The job description. Without it: generalist. With it: specialist.</a:t>
            </a:r>
          </a:p>
        </p:txBody>
      </p:sp>
      <p:sp>
        <p:nvSpPr>
          <p:cNvPr id="29" name="Rounded Rectangle 28"/>
          <p:cNvSpPr/>
          <p:nvPr/>
        </p:nvSpPr>
        <p:spPr>
          <a:xfrm>
            <a:off x="411480" y="3017519"/>
            <a:ext cx="11338560" cy="1005840"/>
          </a:xfrm>
          <a:prstGeom prst="roundRect">
            <a:avLst/>
          </a:prstGeom>
          <a:solidFill>
            <a:srgbClr val="121626"/>
          </a:solidFill>
          <a:ln w="6350">
            <a:solidFill>
              <a:srgbClr val="1894C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411480" y="3017519"/>
            <a:ext cx="128016" cy="1005840"/>
          </a:xfrm>
          <a:prstGeom prst="roundRect">
            <a:avLst/>
          </a:prstGeom>
          <a:solidFill>
            <a:srgbClr val="1894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658368" y="3310127"/>
            <a:ext cx="713232" cy="292608"/>
          </a:xfrm>
          <a:prstGeom prst="roundRect">
            <a:avLst/>
          </a:prstGeom>
          <a:solidFill>
            <a:srgbClr val="1894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58368" y="3328415"/>
            <a:ext cx="713232" cy="256032"/>
          </a:xfrm>
          <a:prstGeom prst="rect">
            <a:avLst/>
          </a:prstGeom>
          <a:noFill/>
        </p:spPr>
        <p:txBody>
          <a:bodyPr wrap="square">
            <a:spAutoFit/>
          </a:bodyPr>
          <a:lstStyle/>
          <a:p>
            <a:pPr algn="ctr"/>
            <a:r>
              <a:rPr sz="1000" b="1" i="0">
                <a:solidFill>
                  <a:srgbClr val="FAFBFA"/>
                </a:solidFill>
                <a:latin typeface="Montserrat"/>
              </a:rPr>
              <a:t>USER</a:t>
            </a:r>
          </a:p>
        </p:txBody>
      </p:sp>
      <p:sp>
        <p:nvSpPr>
          <p:cNvPr id="33" name="TextBox 32"/>
          <p:cNvSpPr txBox="1"/>
          <p:nvPr/>
        </p:nvSpPr>
        <p:spPr>
          <a:xfrm>
            <a:off x="1828800" y="3182111"/>
            <a:ext cx="2286000" cy="347472"/>
          </a:xfrm>
          <a:prstGeom prst="rect">
            <a:avLst/>
          </a:prstGeom>
          <a:noFill/>
        </p:spPr>
        <p:txBody>
          <a:bodyPr wrap="square">
            <a:spAutoFit/>
          </a:bodyPr>
          <a:lstStyle/>
          <a:p>
            <a:pPr algn="l"/>
            <a:r>
              <a:rPr sz="1300" b="1" i="0">
                <a:solidFill>
                  <a:srgbClr val="FAFBFA"/>
                </a:solidFill>
                <a:latin typeface="Montserrat"/>
              </a:rPr>
              <a:t>The task</a:t>
            </a:r>
          </a:p>
        </p:txBody>
      </p:sp>
      <p:sp>
        <p:nvSpPr>
          <p:cNvPr id="34" name="TextBox 33"/>
          <p:cNvSpPr txBox="1"/>
          <p:nvPr/>
        </p:nvSpPr>
        <p:spPr>
          <a:xfrm>
            <a:off x="4297680" y="3200399"/>
            <a:ext cx="7315200" cy="621792"/>
          </a:xfrm>
          <a:prstGeom prst="rect">
            <a:avLst/>
          </a:prstGeom>
          <a:noFill/>
        </p:spPr>
        <p:txBody>
          <a:bodyPr wrap="square">
            <a:spAutoFit/>
          </a:bodyPr>
          <a:lstStyle/>
          <a:p>
            <a:pPr algn="l"/>
            <a:r>
              <a:rPr sz="1300" b="0" i="0">
                <a:solidFill>
                  <a:srgbClr val="C8CDD7"/>
                </a:solidFill>
                <a:latin typeface="Open Sans"/>
              </a:rPr>
              <a:t>Your specific request with full context. More context = better output. Always.</a:t>
            </a:r>
          </a:p>
        </p:txBody>
      </p:sp>
      <p:sp>
        <p:nvSpPr>
          <p:cNvPr id="35" name="Rounded Rectangle 34"/>
          <p:cNvSpPr/>
          <p:nvPr/>
        </p:nvSpPr>
        <p:spPr>
          <a:xfrm>
            <a:off x="411480" y="4160519"/>
            <a:ext cx="11338560" cy="1005840"/>
          </a:xfrm>
          <a:prstGeom prst="roundRect">
            <a:avLst/>
          </a:prstGeom>
          <a:solidFill>
            <a:srgbClr val="121626"/>
          </a:solidFill>
          <a:ln w="6350">
            <a:solidFill>
              <a:srgbClr val="E0B8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411480" y="4160519"/>
            <a:ext cx="128016" cy="1005840"/>
          </a:xfrm>
          <a:prstGeom prst="roundRect">
            <a:avLst/>
          </a:prstGeom>
          <a:solidFill>
            <a:srgbClr val="E0B8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658368" y="4453127"/>
            <a:ext cx="1147572" cy="292608"/>
          </a:xfrm>
          <a:prstGeom prst="roundRect">
            <a:avLst/>
          </a:prstGeom>
          <a:solidFill>
            <a:srgbClr val="E0B8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58368" y="4471415"/>
            <a:ext cx="1147572" cy="256032"/>
          </a:xfrm>
          <a:prstGeom prst="rect">
            <a:avLst/>
          </a:prstGeom>
          <a:noFill/>
        </p:spPr>
        <p:txBody>
          <a:bodyPr wrap="square">
            <a:spAutoFit/>
          </a:bodyPr>
          <a:lstStyle/>
          <a:p>
            <a:pPr algn="ctr"/>
            <a:r>
              <a:rPr sz="1000" b="1" i="0">
                <a:solidFill>
                  <a:srgbClr val="000814"/>
                </a:solidFill>
                <a:latin typeface="Montserrat"/>
              </a:rPr>
              <a:t>ASSISTANT</a:t>
            </a:r>
          </a:p>
        </p:txBody>
      </p:sp>
      <p:sp>
        <p:nvSpPr>
          <p:cNvPr id="39" name="TextBox 38"/>
          <p:cNvSpPr txBox="1"/>
          <p:nvPr/>
        </p:nvSpPr>
        <p:spPr>
          <a:xfrm>
            <a:off x="1828800" y="4325111"/>
            <a:ext cx="2286000" cy="347472"/>
          </a:xfrm>
          <a:prstGeom prst="rect">
            <a:avLst/>
          </a:prstGeom>
          <a:noFill/>
        </p:spPr>
        <p:txBody>
          <a:bodyPr wrap="square">
            <a:spAutoFit/>
          </a:bodyPr>
          <a:lstStyle/>
          <a:p>
            <a:pPr algn="l"/>
            <a:r>
              <a:rPr sz="1300" b="1" i="0">
                <a:solidFill>
                  <a:srgbClr val="FAFBFA"/>
                </a:solidFill>
                <a:latin typeface="Montserrat"/>
              </a:rPr>
              <a:t>Quality benchmark</a:t>
            </a:r>
          </a:p>
        </p:txBody>
      </p:sp>
      <p:sp>
        <p:nvSpPr>
          <p:cNvPr id="40" name="TextBox 39"/>
          <p:cNvSpPr txBox="1"/>
          <p:nvPr/>
        </p:nvSpPr>
        <p:spPr>
          <a:xfrm>
            <a:off x="4297680" y="4343399"/>
            <a:ext cx="7315200" cy="621792"/>
          </a:xfrm>
          <a:prstGeom prst="rect">
            <a:avLst/>
          </a:prstGeom>
          <a:noFill/>
        </p:spPr>
        <p:txBody>
          <a:bodyPr wrap="square">
            <a:spAutoFit/>
          </a:bodyPr>
          <a:lstStyle/>
          <a:p>
            <a:pPr algn="l"/>
            <a:r>
              <a:rPr sz="1300" b="0" i="0">
                <a:solidFill>
                  <a:srgbClr val="C8CDD7"/>
                </a:solidFill>
                <a:latin typeface="Open Sans"/>
              </a:rPr>
              <a:t>Examples of what good looks like. Your best work handed over. This is few-shot prompting — the highest-leverage technique.</a:t>
            </a:r>
          </a:p>
        </p:txBody>
      </p:sp>
      <p:sp>
        <p:nvSpPr>
          <p:cNvPr id="41" name="Rounded Rectangle 40"/>
          <p:cNvSpPr/>
          <p:nvPr/>
        </p:nvSpPr>
        <p:spPr>
          <a:xfrm>
            <a:off x="411480" y="5303519"/>
            <a:ext cx="11338560" cy="1005840"/>
          </a:xfrm>
          <a:prstGeom prst="roundRect">
            <a:avLst/>
          </a:prstGeom>
          <a:solidFill>
            <a:srgbClr val="121626"/>
          </a:solidFill>
          <a:ln w="6350">
            <a:solidFill>
              <a:srgbClr val="121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ounded Rectangle 41"/>
          <p:cNvSpPr/>
          <p:nvPr/>
        </p:nvSpPr>
        <p:spPr>
          <a:xfrm>
            <a:off x="411480" y="5303519"/>
            <a:ext cx="128016" cy="1005840"/>
          </a:xfrm>
          <a:prstGeom prst="roundRect">
            <a:avLst/>
          </a:prstGeom>
          <a:solidFill>
            <a:srgbClr val="788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ounded Rectangle 42"/>
          <p:cNvSpPr/>
          <p:nvPr/>
        </p:nvSpPr>
        <p:spPr>
          <a:xfrm>
            <a:off x="658368" y="5596127"/>
            <a:ext cx="1147572" cy="292608"/>
          </a:xfrm>
          <a:prstGeom prst="round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58368" y="5614415"/>
            <a:ext cx="1147572" cy="256032"/>
          </a:xfrm>
          <a:prstGeom prst="rect">
            <a:avLst/>
          </a:prstGeom>
          <a:noFill/>
        </p:spPr>
        <p:txBody>
          <a:bodyPr wrap="square">
            <a:spAutoFit/>
          </a:bodyPr>
          <a:lstStyle/>
          <a:p>
            <a:pPr algn="ctr"/>
            <a:r>
              <a:rPr sz="1000" b="1" i="0">
                <a:solidFill>
                  <a:srgbClr val="FAFBFA"/>
                </a:solidFill>
                <a:latin typeface="Montserrat"/>
              </a:rPr>
              <a:t>DEVELOPER</a:t>
            </a:r>
          </a:p>
        </p:txBody>
      </p:sp>
      <p:sp>
        <p:nvSpPr>
          <p:cNvPr id="45" name="TextBox 44"/>
          <p:cNvSpPr txBox="1"/>
          <p:nvPr/>
        </p:nvSpPr>
        <p:spPr>
          <a:xfrm>
            <a:off x="1828800" y="5468111"/>
            <a:ext cx="2286000" cy="347472"/>
          </a:xfrm>
          <a:prstGeom prst="rect">
            <a:avLst/>
          </a:prstGeom>
          <a:noFill/>
        </p:spPr>
        <p:txBody>
          <a:bodyPr wrap="square">
            <a:spAutoFit/>
          </a:bodyPr>
          <a:lstStyle/>
          <a:p>
            <a:pPr algn="l"/>
            <a:r>
              <a:rPr sz="1300" b="1" i="0">
                <a:solidFill>
                  <a:srgbClr val="FAFBFA"/>
                </a:solidFill>
                <a:latin typeface="Montserrat"/>
              </a:rPr>
              <a:t>Behind the curtain</a:t>
            </a:r>
          </a:p>
        </p:txBody>
      </p:sp>
      <p:sp>
        <p:nvSpPr>
          <p:cNvPr id="46" name="TextBox 45"/>
          <p:cNvSpPr txBox="1"/>
          <p:nvPr/>
        </p:nvSpPr>
        <p:spPr>
          <a:xfrm>
            <a:off x="4297680" y="5486399"/>
            <a:ext cx="7315200" cy="621792"/>
          </a:xfrm>
          <a:prstGeom prst="rect">
            <a:avLst/>
          </a:prstGeom>
          <a:noFill/>
        </p:spPr>
        <p:txBody>
          <a:bodyPr wrap="square">
            <a:spAutoFit/>
          </a:bodyPr>
          <a:lstStyle/>
          <a:p>
            <a:pPr algn="l"/>
            <a:r>
              <a:rPr sz="1300" b="0" i="0">
                <a:solidFill>
                  <a:srgbClr val="C8CDD7"/>
                </a:solidFill>
                <a:latin typeface="Open Sans"/>
              </a:rPr>
              <a:t>API &amp; automation logic. Used when building agents. Know it exists.</a:t>
            </a:r>
          </a:p>
        </p:txBody>
      </p:sp>
      <p:sp>
        <p:nvSpPr>
          <p:cNvPr id="47" name="Rounded Rectangle 46"/>
          <p:cNvSpPr/>
          <p:nvPr/>
        </p:nvSpPr>
        <p:spPr>
          <a:xfrm>
            <a:off x="411480" y="6419088"/>
            <a:ext cx="11338560" cy="292608"/>
          </a:xfrm>
          <a:prstGeom prst="round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411480" y="6437376"/>
            <a:ext cx="11338560" cy="256032"/>
          </a:xfrm>
          <a:prstGeom prst="rect">
            <a:avLst/>
          </a:prstGeom>
          <a:noFill/>
        </p:spPr>
        <p:txBody>
          <a:bodyPr wrap="square">
            <a:spAutoFit/>
          </a:bodyPr>
          <a:lstStyle/>
          <a:p>
            <a:pPr algn="ctr"/>
            <a:r>
              <a:rPr sz="1200" b="0" i="0">
                <a:solidFill>
                  <a:srgbClr val="E0B848"/>
                </a:solidFill>
                <a:latin typeface="Montserrat"/>
              </a:rPr>
              <a:t>System = job description  ·  User = daily task  ·  Assistant = quality benchmark</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00814"/>
        </a:solidFill>
        <a:effectLst/>
      </p:bgPr>
    </p:bg>
    <p:spTree>
      <p:nvGrpSpPr>
        <p:cNvPr id="1" name=""/>
        <p:cNvGrpSpPr/>
        <p:nvPr/>
      </p:nvGrpSpPr>
      <p:grpSpPr/>
      <p:sp>
        <p:nvSpPr>
          <p:cNvPr id="2" name="TextBox 1"/>
          <p:cNvSpPr txBox="1"/>
          <p:nvPr/>
        </p:nvSpPr>
        <p:spPr>
          <a:xfrm>
            <a:off x="411480" y="164592"/>
            <a:ext cx="1005840" cy="347472"/>
          </a:xfrm>
          <a:prstGeom prst="rect">
            <a:avLst/>
          </a:prstGeom>
          <a:noFill/>
        </p:spPr>
        <p:txBody>
          <a:bodyPr wrap="square">
            <a:spAutoFit/>
          </a:bodyPr>
          <a:lstStyle/>
          <a:p>
            <a:pPr algn="l"/>
            <a:r>
              <a:rPr sz="1500" b="1" i="0">
                <a:solidFill>
                  <a:srgbClr val="FAFBFA"/>
                </a:solidFill>
                <a:latin typeface="Poppins"/>
              </a:rPr>
              <a:t>BISHOP</a:t>
            </a:r>
          </a:p>
        </p:txBody>
      </p:sp>
      <p:sp>
        <p:nvSpPr>
          <p:cNvPr id="3" name="TextBox 2"/>
          <p:cNvSpPr txBox="1"/>
          <p:nvPr/>
        </p:nvSpPr>
        <p:spPr>
          <a:xfrm>
            <a:off x="1371600" y="164592"/>
            <a:ext cx="457200" cy="347472"/>
          </a:xfrm>
          <a:prstGeom prst="rect">
            <a:avLst/>
          </a:prstGeom>
          <a:noFill/>
        </p:spPr>
        <p:txBody>
          <a:bodyPr wrap="square">
            <a:spAutoFit/>
          </a:bodyPr>
          <a:lstStyle/>
          <a:p>
            <a:pPr algn="l"/>
            <a:r>
              <a:rPr sz="1500" b="1" i="0">
                <a:solidFill>
                  <a:srgbClr val="E0B848"/>
                </a:solidFill>
                <a:latin typeface="Poppins"/>
              </a:rPr>
              <a:t>AI</a:t>
            </a:r>
          </a:p>
        </p:txBody>
      </p:sp>
      <p:sp>
        <p:nvSpPr>
          <p:cNvPr id="4" name="Rectangle 3"/>
          <p:cNvSpPr/>
          <p:nvPr/>
        </p:nvSpPr>
        <p:spPr>
          <a:xfrm>
            <a:off x="0" y="6601968"/>
            <a:ext cx="12191695" cy="256032"/>
          </a:xfrm>
          <a:prstGeom prst="rect">
            <a:avLst/>
          </a:prstGeom>
          <a:solidFill>
            <a:srgbClr val="121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620256"/>
            <a:ext cx="11247120" cy="201168"/>
          </a:xfrm>
          <a:prstGeom prst="rect">
            <a:avLst/>
          </a:prstGeom>
          <a:noFill/>
        </p:spPr>
        <p:txBody>
          <a:bodyPr wrap="square">
            <a:spAutoFit/>
          </a:bodyPr>
          <a:lstStyle/>
          <a:p>
            <a:pPr algn="ctr"/>
            <a:r>
              <a:rPr sz="900" b="0" i="0">
                <a:solidFill>
                  <a:srgbClr val="788296"/>
                </a:solidFill>
                <a:latin typeface="Open Sans"/>
              </a:rPr>
              <a:t>PromptAnything.io  ·  BishopAI.com  ·  calendly.com/richmond  ·  Automation Nation</a:t>
            </a:r>
          </a:p>
        </p:txBody>
      </p:sp>
      <p:sp>
        <p:nvSpPr>
          <p:cNvPr id="6" name="Rounded Rectangle 5"/>
          <p:cNvSpPr/>
          <p:nvPr/>
        </p:nvSpPr>
        <p:spPr>
          <a:xfrm>
            <a:off x="4971135" y="91440"/>
            <a:ext cx="109728" cy="109728"/>
          </a:xfrm>
          <a:prstGeom prst="roundRect">
            <a:avLst/>
          </a:prstGeom>
          <a:solidFill>
            <a:srgbClr val="788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135727" y="91440"/>
            <a:ext cx="109728" cy="109728"/>
          </a:xfrm>
          <a:prstGeom prst="roundRect">
            <a:avLst/>
          </a:prstGeom>
          <a:solidFill>
            <a:srgbClr val="788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300319" y="91440"/>
            <a:ext cx="109728" cy="109728"/>
          </a:xfrm>
          <a:prstGeom prst="roundRect">
            <a:avLst/>
          </a:prstGeom>
          <a:solidFill>
            <a:srgbClr val="788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464911" y="91440"/>
            <a:ext cx="109728" cy="109728"/>
          </a:xfrm>
          <a:prstGeom prst="roundRect">
            <a:avLst/>
          </a:prstGeom>
          <a:solidFill>
            <a:srgbClr val="788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629503" y="91440"/>
            <a:ext cx="109728" cy="109728"/>
          </a:xfrm>
          <a:prstGeom prst="roundRect">
            <a:avLst/>
          </a:prstGeom>
          <a:solidFill>
            <a:srgbClr val="E0B8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5794095" y="91440"/>
            <a:ext cx="109728" cy="109728"/>
          </a:xfrm>
          <a:prstGeom prst="roundRect">
            <a:avLst/>
          </a:prstGeom>
          <a:solidFill>
            <a:srgbClr val="788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958687" y="91440"/>
            <a:ext cx="109728" cy="109728"/>
          </a:xfrm>
          <a:prstGeom prst="roundRect">
            <a:avLst/>
          </a:prstGeom>
          <a:solidFill>
            <a:srgbClr val="788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123279" y="91440"/>
            <a:ext cx="109728" cy="109728"/>
          </a:xfrm>
          <a:prstGeom prst="roundRect">
            <a:avLst/>
          </a:prstGeom>
          <a:solidFill>
            <a:srgbClr val="788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287871" y="91440"/>
            <a:ext cx="109728" cy="109728"/>
          </a:xfrm>
          <a:prstGeom prst="roundRect">
            <a:avLst/>
          </a:prstGeom>
          <a:solidFill>
            <a:srgbClr val="788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452463" y="91440"/>
            <a:ext cx="109728" cy="109728"/>
          </a:xfrm>
          <a:prstGeom prst="roundRect">
            <a:avLst/>
          </a:prstGeom>
          <a:solidFill>
            <a:srgbClr val="788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617055" y="91440"/>
            <a:ext cx="109728" cy="109728"/>
          </a:xfrm>
          <a:prstGeom prst="roundRect">
            <a:avLst/>
          </a:prstGeom>
          <a:solidFill>
            <a:srgbClr val="788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781647" y="91440"/>
            <a:ext cx="109728" cy="109728"/>
          </a:xfrm>
          <a:prstGeom prst="roundRect">
            <a:avLst/>
          </a:prstGeom>
          <a:solidFill>
            <a:srgbClr val="788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946239" y="91440"/>
            <a:ext cx="109728" cy="109728"/>
          </a:xfrm>
          <a:prstGeom prst="roundRect">
            <a:avLst/>
          </a:prstGeom>
          <a:solidFill>
            <a:srgbClr val="788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7110831" y="91440"/>
            <a:ext cx="109728" cy="109728"/>
          </a:xfrm>
          <a:prstGeom prst="roundRect">
            <a:avLst/>
          </a:prstGeom>
          <a:solidFill>
            <a:srgbClr val="788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11480" y="685800"/>
            <a:ext cx="1147572" cy="292608"/>
          </a:xfrm>
          <a:prstGeom prst="roundRect">
            <a:avLst/>
          </a:prstGeom>
          <a:solidFill>
            <a:srgbClr val="1894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11480" y="704088"/>
            <a:ext cx="1147572" cy="256032"/>
          </a:xfrm>
          <a:prstGeom prst="rect">
            <a:avLst/>
          </a:prstGeom>
          <a:noFill/>
        </p:spPr>
        <p:txBody>
          <a:bodyPr wrap="square">
            <a:spAutoFit/>
          </a:bodyPr>
          <a:lstStyle/>
          <a:p>
            <a:pPr algn="ctr"/>
            <a:r>
              <a:rPr sz="1000" b="1" i="0">
                <a:solidFill>
                  <a:srgbClr val="FAFBFA"/>
                </a:solidFill>
                <a:latin typeface="Montserrat"/>
              </a:rPr>
              <a:t>FRAMEWORK</a:t>
            </a:r>
          </a:p>
        </p:txBody>
      </p:sp>
      <p:sp>
        <p:nvSpPr>
          <p:cNvPr id="22" name="TextBox 21"/>
          <p:cNvSpPr txBox="1"/>
          <p:nvPr/>
        </p:nvSpPr>
        <p:spPr>
          <a:xfrm>
            <a:off x="411480" y="1078992"/>
            <a:ext cx="11338560" cy="777240"/>
          </a:xfrm>
          <a:prstGeom prst="rect">
            <a:avLst/>
          </a:prstGeom>
          <a:noFill/>
        </p:spPr>
        <p:txBody>
          <a:bodyPr wrap="square">
            <a:spAutoFit/>
          </a:bodyPr>
          <a:lstStyle/>
          <a:p>
            <a:pPr algn="l"/>
            <a:r>
              <a:rPr sz="2800" b="1" i="0">
                <a:solidFill>
                  <a:srgbClr val="FAFBFA"/>
                </a:solidFill>
                <a:latin typeface="Poppins"/>
              </a:rPr>
              <a:t>Great prompts are built, not typed.</a:t>
            </a:r>
          </a:p>
        </p:txBody>
      </p:sp>
      <p:sp>
        <p:nvSpPr>
          <p:cNvPr id="23" name="Rounded Rectangle 22"/>
          <p:cNvSpPr/>
          <p:nvPr/>
        </p:nvSpPr>
        <p:spPr>
          <a:xfrm>
            <a:off x="411480" y="1874519"/>
            <a:ext cx="2103120" cy="3520440"/>
          </a:xfrm>
          <a:prstGeom prst="roundRect">
            <a:avLst/>
          </a:prstGeom>
          <a:solidFill>
            <a:srgbClr val="121626"/>
          </a:solidFill>
          <a:ln w="6350">
            <a:solidFill>
              <a:srgbClr val="E0B8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005840" y="2057400"/>
            <a:ext cx="914400" cy="777240"/>
          </a:xfrm>
          <a:prstGeom prst="roundRect">
            <a:avLst/>
          </a:prstGeom>
          <a:solidFill>
            <a:srgbClr val="E0B8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05840" y="2057400"/>
            <a:ext cx="914400" cy="777240"/>
          </a:xfrm>
          <a:prstGeom prst="rect">
            <a:avLst/>
          </a:prstGeom>
          <a:noFill/>
        </p:spPr>
        <p:txBody>
          <a:bodyPr wrap="square">
            <a:spAutoFit/>
          </a:bodyPr>
          <a:lstStyle/>
          <a:p>
            <a:pPr algn="ctr"/>
            <a:r>
              <a:rPr sz="2000" b="1" i="0">
                <a:solidFill>
                  <a:srgbClr val="000814"/>
                </a:solidFill>
                <a:latin typeface="Poppins"/>
              </a:rPr>
              <a:t>01</a:t>
            </a:r>
          </a:p>
        </p:txBody>
      </p:sp>
      <p:sp>
        <p:nvSpPr>
          <p:cNvPr id="26" name="TextBox 25"/>
          <p:cNvSpPr txBox="1"/>
          <p:nvPr/>
        </p:nvSpPr>
        <p:spPr>
          <a:xfrm>
            <a:off x="502920" y="3017520"/>
            <a:ext cx="1920240" cy="457200"/>
          </a:xfrm>
          <a:prstGeom prst="rect">
            <a:avLst/>
          </a:prstGeom>
          <a:noFill/>
        </p:spPr>
        <p:txBody>
          <a:bodyPr wrap="square">
            <a:spAutoFit/>
          </a:bodyPr>
          <a:lstStyle/>
          <a:p>
            <a:pPr algn="ctr"/>
            <a:r>
              <a:rPr sz="1200" b="1" i="0">
                <a:solidFill>
                  <a:srgbClr val="FAFBFA"/>
                </a:solidFill>
                <a:latin typeface="Montserrat"/>
              </a:rPr>
              <a:t>SET A GOAL</a:t>
            </a:r>
          </a:p>
        </p:txBody>
      </p:sp>
      <p:sp>
        <p:nvSpPr>
          <p:cNvPr id="27" name="TextBox 26"/>
          <p:cNvSpPr txBox="1"/>
          <p:nvPr/>
        </p:nvSpPr>
        <p:spPr>
          <a:xfrm>
            <a:off x="521208" y="3547872"/>
            <a:ext cx="1883664" cy="1600200"/>
          </a:xfrm>
          <a:prstGeom prst="rect">
            <a:avLst/>
          </a:prstGeom>
          <a:noFill/>
        </p:spPr>
        <p:txBody>
          <a:bodyPr wrap="square">
            <a:spAutoFit/>
          </a:bodyPr>
          <a:lstStyle/>
          <a:p>
            <a:pPr algn="ctr"/>
            <a:r>
              <a:rPr sz="1200" b="0" i="0">
                <a:solidFill>
                  <a:srgbClr val="C8CDD7"/>
                </a:solidFill>
                <a:latin typeface="Open Sans"/>
              </a:rPr>
              <a:t>Define success before writing anything.</a:t>
            </a:r>
          </a:p>
        </p:txBody>
      </p:sp>
      <p:sp>
        <p:nvSpPr>
          <p:cNvPr id="28" name="Rounded Rectangle 27"/>
          <p:cNvSpPr/>
          <p:nvPr/>
        </p:nvSpPr>
        <p:spPr>
          <a:xfrm>
            <a:off x="2596896" y="1874519"/>
            <a:ext cx="2103120" cy="3520440"/>
          </a:xfrm>
          <a:prstGeom prst="roundRect">
            <a:avLst/>
          </a:prstGeom>
          <a:solidFill>
            <a:srgbClr val="121626"/>
          </a:solidFill>
          <a:ln w="6350">
            <a:solidFill>
              <a:srgbClr val="1894C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3191256" y="2057400"/>
            <a:ext cx="914400" cy="777240"/>
          </a:xfrm>
          <a:prstGeom prst="roundRect">
            <a:avLst/>
          </a:prstGeom>
          <a:solidFill>
            <a:srgbClr val="1894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191256" y="2057400"/>
            <a:ext cx="914400" cy="777240"/>
          </a:xfrm>
          <a:prstGeom prst="rect">
            <a:avLst/>
          </a:prstGeom>
          <a:noFill/>
        </p:spPr>
        <p:txBody>
          <a:bodyPr wrap="square">
            <a:spAutoFit/>
          </a:bodyPr>
          <a:lstStyle/>
          <a:p>
            <a:pPr algn="ctr"/>
            <a:r>
              <a:rPr sz="2000" b="1" i="0">
                <a:solidFill>
                  <a:srgbClr val="000814"/>
                </a:solidFill>
                <a:latin typeface="Poppins"/>
              </a:rPr>
              <a:t>02</a:t>
            </a:r>
          </a:p>
        </p:txBody>
      </p:sp>
      <p:sp>
        <p:nvSpPr>
          <p:cNvPr id="31" name="TextBox 30"/>
          <p:cNvSpPr txBox="1"/>
          <p:nvPr/>
        </p:nvSpPr>
        <p:spPr>
          <a:xfrm>
            <a:off x="2688336" y="3017520"/>
            <a:ext cx="1920240" cy="457200"/>
          </a:xfrm>
          <a:prstGeom prst="rect">
            <a:avLst/>
          </a:prstGeom>
          <a:noFill/>
        </p:spPr>
        <p:txBody>
          <a:bodyPr wrap="square">
            <a:spAutoFit/>
          </a:bodyPr>
          <a:lstStyle/>
          <a:p>
            <a:pPr algn="ctr"/>
            <a:r>
              <a:rPr sz="1200" b="1" i="0">
                <a:solidFill>
                  <a:srgbClr val="FAFBFA"/>
                </a:solidFill>
                <a:latin typeface="Montserrat"/>
              </a:rPr>
              <a:t>WRITE</a:t>
            </a:r>
          </a:p>
        </p:txBody>
      </p:sp>
      <p:sp>
        <p:nvSpPr>
          <p:cNvPr id="32" name="TextBox 31"/>
          <p:cNvSpPr txBox="1"/>
          <p:nvPr/>
        </p:nvSpPr>
        <p:spPr>
          <a:xfrm>
            <a:off x="2706624" y="3547872"/>
            <a:ext cx="1883664" cy="1600200"/>
          </a:xfrm>
          <a:prstGeom prst="rect">
            <a:avLst/>
          </a:prstGeom>
          <a:noFill/>
        </p:spPr>
        <p:txBody>
          <a:bodyPr wrap="square">
            <a:spAutoFit/>
          </a:bodyPr>
          <a:lstStyle/>
          <a:p>
            <a:pPr algn="ctr"/>
            <a:r>
              <a:rPr sz="1200" b="0" i="0">
                <a:solidFill>
                  <a:srgbClr val="C8CDD7"/>
                </a:solidFill>
                <a:latin typeface="Open Sans"/>
              </a:rPr>
              <a:t>Get something down fast. Imperfect is fine.</a:t>
            </a:r>
          </a:p>
        </p:txBody>
      </p:sp>
      <p:sp>
        <p:nvSpPr>
          <p:cNvPr id="33" name="Rounded Rectangle 32"/>
          <p:cNvSpPr/>
          <p:nvPr/>
        </p:nvSpPr>
        <p:spPr>
          <a:xfrm>
            <a:off x="4782312" y="1874519"/>
            <a:ext cx="2103120" cy="3520440"/>
          </a:xfrm>
          <a:prstGeom prst="roundRect">
            <a:avLst/>
          </a:prstGeom>
          <a:solidFill>
            <a:srgbClr val="121626"/>
          </a:solidFill>
          <a:ln w="6350">
            <a:solidFill>
              <a:srgbClr val="E0B8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5376672" y="2057400"/>
            <a:ext cx="914400" cy="777240"/>
          </a:xfrm>
          <a:prstGeom prst="roundRect">
            <a:avLst/>
          </a:prstGeom>
          <a:solidFill>
            <a:srgbClr val="E0B8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376672" y="2057400"/>
            <a:ext cx="914400" cy="777240"/>
          </a:xfrm>
          <a:prstGeom prst="rect">
            <a:avLst/>
          </a:prstGeom>
          <a:noFill/>
        </p:spPr>
        <p:txBody>
          <a:bodyPr wrap="square">
            <a:spAutoFit/>
          </a:bodyPr>
          <a:lstStyle/>
          <a:p>
            <a:pPr algn="ctr"/>
            <a:r>
              <a:rPr sz="2000" b="1" i="0">
                <a:solidFill>
                  <a:srgbClr val="000814"/>
                </a:solidFill>
                <a:latin typeface="Poppins"/>
              </a:rPr>
              <a:t>03</a:t>
            </a:r>
          </a:p>
        </p:txBody>
      </p:sp>
      <p:sp>
        <p:nvSpPr>
          <p:cNvPr id="36" name="TextBox 35"/>
          <p:cNvSpPr txBox="1"/>
          <p:nvPr/>
        </p:nvSpPr>
        <p:spPr>
          <a:xfrm>
            <a:off x="4873752" y="3017520"/>
            <a:ext cx="1920240" cy="457200"/>
          </a:xfrm>
          <a:prstGeom prst="rect">
            <a:avLst/>
          </a:prstGeom>
          <a:noFill/>
        </p:spPr>
        <p:txBody>
          <a:bodyPr wrap="square">
            <a:spAutoFit/>
          </a:bodyPr>
          <a:lstStyle/>
          <a:p>
            <a:pPr algn="ctr"/>
            <a:r>
              <a:rPr sz="1200" b="1" i="0">
                <a:solidFill>
                  <a:srgbClr val="FAFBFA"/>
                </a:solidFill>
                <a:latin typeface="Montserrat"/>
              </a:rPr>
              <a:t>EVALUATE</a:t>
            </a:r>
          </a:p>
        </p:txBody>
      </p:sp>
      <p:sp>
        <p:nvSpPr>
          <p:cNvPr id="37" name="TextBox 36"/>
          <p:cNvSpPr txBox="1"/>
          <p:nvPr/>
        </p:nvSpPr>
        <p:spPr>
          <a:xfrm>
            <a:off x="4892040" y="3547872"/>
            <a:ext cx="1883664" cy="1600200"/>
          </a:xfrm>
          <a:prstGeom prst="rect">
            <a:avLst/>
          </a:prstGeom>
          <a:noFill/>
        </p:spPr>
        <p:txBody>
          <a:bodyPr wrap="square">
            <a:spAutoFit/>
          </a:bodyPr>
          <a:lstStyle/>
          <a:p>
            <a:pPr algn="ctr"/>
            <a:r>
              <a:rPr sz="1200" b="0" i="0">
                <a:solidFill>
                  <a:srgbClr val="C8CDD7"/>
                </a:solidFill>
                <a:latin typeface="Open Sans"/>
              </a:rPr>
              <a:t>Be specific about what's off.</a:t>
            </a:r>
          </a:p>
        </p:txBody>
      </p:sp>
      <p:sp>
        <p:nvSpPr>
          <p:cNvPr id="38" name="Rounded Rectangle 37"/>
          <p:cNvSpPr/>
          <p:nvPr/>
        </p:nvSpPr>
        <p:spPr>
          <a:xfrm>
            <a:off x="6967728" y="1874519"/>
            <a:ext cx="2103120" cy="3520440"/>
          </a:xfrm>
          <a:prstGeom prst="roundRect">
            <a:avLst/>
          </a:prstGeom>
          <a:solidFill>
            <a:srgbClr val="121626"/>
          </a:solidFill>
          <a:ln w="6350">
            <a:solidFill>
              <a:srgbClr val="1894C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7562088" y="2057400"/>
            <a:ext cx="914400" cy="777240"/>
          </a:xfrm>
          <a:prstGeom prst="roundRect">
            <a:avLst/>
          </a:prstGeom>
          <a:solidFill>
            <a:srgbClr val="1894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562088" y="2057400"/>
            <a:ext cx="914400" cy="777240"/>
          </a:xfrm>
          <a:prstGeom prst="rect">
            <a:avLst/>
          </a:prstGeom>
          <a:noFill/>
        </p:spPr>
        <p:txBody>
          <a:bodyPr wrap="square">
            <a:spAutoFit/>
          </a:bodyPr>
          <a:lstStyle/>
          <a:p>
            <a:pPr algn="ctr"/>
            <a:r>
              <a:rPr sz="2000" b="1" i="0">
                <a:solidFill>
                  <a:srgbClr val="000814"/>
                </a:solidFill>
                <a:latin typeface="Poppins"/>
              </a:rPr>
              <a:t>04</a:t>
            </a:r>
          </a:p>
        </p:txBody>
      </p:sp>
      <p:sp>
        <p:nvSpPr>
          <p:cNvPr id="41" name="TextBox 40"/>
          <p:cNvSpPr txBox="1"/>
          <p:nvPr/>
        </p:nvSpPr>
        <p:spPr>
          <a:xfrm>
            <a:off x="7059168" y="3017520"/>
            <a:ext cx="1920240" cy="457200"/>
          </a:xfrm>
          <a:prstGeom prst="rect">
            <a:avLst/>
          </a:prstGeom>
          <a:noFill/>
        </p:spPr>
        <p:txBody>
          <a:bodyPr wrap="square">
            <a:spAutoFit/>
          </a:bodyPr>
          <a:lstStyle/>
          <a:p>
            <a:pPr algn="ctr"/>
            <a:r>
              <a:rPr sz="1200" b="1" i="0">
                <a:solidFill>
                  <a:srgbClr val="FAFBFA"/>
                </a:solidFill>
                <a:latin typeface="Montserrat"/>
              </a:rPr>
              <a:t>APPLY TECHNIQUE</a:t>
            </a:r>
          </a:p>
        </p:txBody>
      </p:sp>
      <p:sp>
        <p:nvSpPr>
          <p:cNvPr id="42" name="TextBox 41"/>
          <p:cNvSpPr txBox="1"/>
          <p:nvPr/>
        </p:nvSpPr>
        <p:spPr>
          <a:xfrm>
            <a:off x="7077456" y="3547872"/>
            <a:ext cx="1883664" cy="1600200"/>
          </a:xfrm>
          <a:prstGeom prst="rect">
            <a:avLst/>
          </a:prstGeom>
          <a:noFill/>
        </p:spPr>
        <p:txBody>
          <a:bodyPr wrap="square">
            <a:spAutoFit/>
          </a:bodyPr>
          <a:lstStyle/>
          <a:p>
            <a:pPr algn="ctr"/>
            <a:r>
              <a:rPr sz="1200" b="0" i="0">
                <a:solidFill>
                  <a:srgbClr val="C8CDD7"/>
                </a:solidFill>
                <a:latin typeface="Open Sans"/>
              </a:rPr>
              <a:t>Role. Few-shot. Constraints. One fix at a time.</a:t>
            </a:r>
          </a:p>
        </p:txBody>
      </p:sp>
      <p:sp>
        <p:nvSpPr>
          <p:cNvPr id="43" name="Rounded Rectangle 42"/>
          <p:cNvSpPr/>
          <p:nvPr/>
        </p:nvSpPr>
        <p:spPr>
          <a:xfrm>
            <a:off x="9153144" y="1874519"/>
            <a:ext cx="2103120" cy="3520440"/>
          </a:xfrm>
          <a:prstGeom prst="roundRect">
            <a:avLst/>
          </a:prstGeom>
          <a:solidFill>
            <a:srgbClr val="121626"/>
          </a:solidFill>
          <a:ln w="6350">
            <a:solidFill>
              <a:srgbClr val="E0B8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ounded Rectangle 43"/>
          <p:cNvSpPr/>
          <p:nvPr/>
        </p:nvSpPr>
        <p:spPr>
          <a:xfrm>
            <a:off x="9747504" y="2057400"/>
            <a:ext cx="914400" cy="777240"/>
          </a:xfrm>
          <a:prstGeom prst="roundRect">
            <a:avLst/>
          </a:prstGeom>
          <a:solidFill>
            <a:srgbClr val="E0B8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9747504" y="2057400"/>
            <a:ext cx="914400" cy="777240"/>
          </a:xfrm>
          <a:prstGeom prst="rect">
            <a:avLst/>
          </a:prstGeom>
          <a:noFill/>
        </p:spPr>
        <p:txBody>
          <a:bodyPr wrap="square">
            <a:spAutoFit/>
          </a:bodyPr>
          <a:lstStyle/>
          <a:p>
            <a:pPr algn="ctr"/>
            <a:r>
              <a:rPr sz="2000" b="1" i="0">
                <a:solidFill>
                  <a:srgbClr val="000814"/>
                </a:solidFill>
                <a:latin typeface="Poppins"/>
              </a:rPr>
              <a:t>05</a:t>
            </a:r>
          </a:p>
        </p:txBody>
      </p:sp>
      <p:sp>
        <p:nvSpPr>
          <p:cNvPr id="46" name="TextBox 45"/>
          <p:cNvSpPr txBox="1"/>
          <p:nvPr/>
        </p:nvSpPr>
        <p:spPr>
          <a:xfrm>
            <a:off x="9244584" y="3017520"/>
            <a:ext cx="1920240" cy="457200"/>
          </a:xfrm>
          <a:prstGeom prst="rect">
            <a:avLst/>
          </a:prstGeom>
          <a:noFill/>
        </p:spPr>
        <p:txBody>
          <a:bodyPr wrap="square">
            <a:spAutoFit/>
          </a:bodyPr>
          <a:lstStyle/>
          <a:p>
            <a:pPr algn="ctr"/>
            <a:r>
              <a:rPr sz="1200" b="1" i="0">
                <a:solidFill>
                  <a:srgbClr val="FAFBFA"/>
                </a:solidFill>
                <a:latin typeface="Montserrat"/>
              </a:rPr>
              <a:t>RE-EVALUATE</a:t>
            </a:r>
          </a:p>
        </p:txBody>
      </p:sp>
      <p:sp>
        <p:nvSpPr>
          <p:cNvPr id="47" name="TextBox 46"/>
          <p:cNvSpPr txBox="1"/>
          <p:nvPr/>
        </p:nvSpPr>
        <p:spPr>
          <a:xfrm>
            <a:off x="9262872" y="3547872"/>
            <a:ext cx="1883664" cy="1600200"/>
          </a:xfrm>
          <a:prstGeom prst="rect">
            <a:avLst/>
          </a:prstGeom>
          <a:noFill/>
        </p:spPr>
        <p:txBody>
          <a:bodyPr wrap="square">
            <a:spAutoFit/>
          </a:bodyPr>
          <a:lstStyle/>
          <a:p>
            <a:pPr algn="ctr"/>
            <a:r>
              <a:rPr sz="1200" b="0" i="0">
                <a:solidFill>
                  <a:srgbClr val="C8CDD7"/>
                </a:solidFill>
                <a:latin typeface="Open Sans"/>
              </a:rPr>
              <a:t>Did the fix work? Test against the original goal.</a:t>
            </a:r>
          </a:p>
        </p:txBody>
      </p:sp>
      <p:sp>
        <p:nvSpPr>
          <p:cNvPr id="48" name="Rounded Rectangle 47"/>
          <p:cNvSpPr/>
          <p:nvPr/>
        </p:nvSpPr>
        <p:spPr>
          <a:xfrm>
            <a:off x="411480" y="5596128"/>
            <a:ext cx="11338560" cy="384048"/>
          </a:xfrm>
          <a:prstGeom prst="round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411480" y="5623560"/>
            <a:ext cx="11338560" cy="320040"/>
          </a:xfrm>
          <a:prstGeom prst="rect">
            <a:avLst/>
          </a:prstGeom>
          <a:noFill/>
        </p:spPr>
        <p:txBody>
          <a:bodyPr wrap="square">
            <a:spAutoFit/>
          </a:bodyPr>
          <a:lstStyle/>
          <a:p>
            <a:pPr algn="ctr"/>
            <a:r>
              <a:rPr sz="1400" b="0" i="0">
                <a:solidFill>
                  <a:srgbClr val="E0B848"/>
                </a:solidFill>
                <a:latin typeface="Montserrat"/>
              </a:rPr>
              <a:t>PromptAnything.io automates steps 3 &amp; 4  —  sign up now, 30 seconds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00814"/>
        </a:solidFill>
        <a:effectLst/>
      </p:bgPr>
    </p:bg>
    <p:spTree>
      <p:nvGrpSpPr>
        <p:cNvPr id="1" name=""/>
        <p:cNvGrpSpPr/>
        <p:nvPr/>
      </p:nvGrpSpPr>
      <p:grpSpPr/>
      <p:sp>
        <p:nvSpPr>
          <p:cNvPr id="2" name="TextBox 1"/>
          <p:cNvSpPr txBox="1"/>
          <p:nvPr/>
        </p:nvSpPr>
        <p:spPr>
          <a:xfrm>
            <a:off x="411480" y="164592"/>
            <a:ext cx="1005840" cy="347472"/>
          </a:xfrm>
          <a:prstGeom prst="rect">
            <a:avLst/>
          </a:prstGeom>
          <a:noFill/>
        </p:spPr>
        <p:txBody>
          <a:bodyPr wrap="square">
            <a:spAutoFit/>
          </a:bodyPr>
          <a:lstStyle/>
          <a:p>
            <a:pPr algn="l"/>
            <a:r>
              <a:rPr sz="1500" b="1" i="0">
                <a:solidFill>
                  <a:srgbClr val="FAFBFA"/>
                </a:solidFill>
                <a:latin typeface="Poppins"/>
              </a:rPr>
              <a:t>BISHOP</a:t>
            </a:r>
          </a:p>
        </p:txBody>
      </p:sp>
      <p:sp>
        <p:nvSpPr>
          <p:cNvPr id="3" name="TextBox 2"/>
          <p:cNvSpPr txBox="1"/>
          <p:nvPr/>
        </p:nvSpPr>
        <p:spPr>
          <a:xfrm>
            <a:off x="1371600" y="164592"/>
            <a:ext cx="457200" cy="347472"/>
          </a:xfrm>
          <a:prstGeom prst="rect">
            <a:avLst/>
          </a:prstGeom>
          <a:noFill/>
        </p:spPr>
        <p:txBody>
          <a:bodyPr wrap="square">
            <a:spAutoFit/>
          </a:bodyPr>
          <a:lstStyle/>
          <a:p>
            <a:pPr algn="l"/>
            <a:r>
              <a:rPr sz="1500" b="1" i="0">
                <a:solidFill>
                  <a:srgbClr val="E0B848"/>
                </a:solidFill>
                <a:latin typeface="Poppins"/>
              </a:rPr>
              <a:t>AI</a:t>
            </a:r>
          </a:p>
        </p:txBody>
      </p:sp>
      <p:sp>
        <p:nvSpPr>
          <p:cNvPr id="4" name="Rectangle 3"/>
          <p:cNvSpPr/>
          <p:nvPr/>
        </p:nvSpPr>
        <p:spPr>
          <a:xfrm>
            <a:off x="0" y="6601968"/>
            <a:ext cx="12191695" cy="256032"/>
          </a:xfrm>
          <a:prstGeom prst="rect">
            <a:avLst/>
          </a:prstGeom>
          <a:solidFill>
            <a:srgbClr val="121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620256"/>
            <a:ext cx="11247120" cy="201168"/>
          </a:xfrm>
          <a:prstGeom prst="rect">
            <a:avLst/>
          </a:prstGeom>
          <a:noFill/>
        </p:spPr>
        <p:txBody>
          <a:bodyPr wrap="square">
            <a:spAutoFit/>
          </a:bodyPr>
          <a:lstStyle/>
          <a:p>
            <a:pPr algn="ctr"/>
            <a:r>
              <a:rPr sz="900" b="0" i="0">
                <a:solidFill>
                  <a:srgbClr val="788296"/>
                </a:solidFill>
                <a:latin typeface="Open Sans"/>
              </a:rPr>
              <a:t>PromptAnything.io  ·  BishopAI.com  ·  calendly.com/richmond  ·  Automation Nation</a:t>
            </a:r>
          </a:p>
        </p:txBody>
      </p:sp>
      <p:sp>
        <p:nvSpPr>
          <p:cNvPr id="6" name="Rounded Rectangle 5"/>
          <p:cNvSpPr/>
          <p:nvPr/>
        </p:nvSpPr>
        <p:spPr>
          <a:xfrm>
            <a:off x="4971135" y="91440"/>
            <a:ext cx="109728" cy="109728"/>
          </a:xfrm>
          <a:prstGeom prst="roundRect">
            <a:avLst/>
          </a:prstGeom>
          <a:solidFill>
            <a:srgbClr val="788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135727" y="91440"/>
            <a:ext cx="109728" cy="109728"/>
          </a:xfrm>
          <a:prstGeom prst="roundRect">
            <a:avLst/>
          </a:prstGeom>
          <a:solidFill>
            <a:srgbClr val="788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300319" y="91440"/>
            <a:ext cx="109728" cy="109728"/>
          </a:xfrm>
          <a:prstGeom prst="roundRect">
            <a:avLst/>
          </a:prstGeom>
          <a:solidFill>
            <a:srgbClr val="788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464911" y="91440"/>
            <a:ext cx="109728" cy="109728"/>
          </a:xfrm>
          <a:prstGeom prst="roundRect">
            <a:avLst/>
          </a:prstGeom>
          <a:solidFill>
            <a:srgbClr val="788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629503" y="91440"/>
            <a:ext cx="109728" cy="109728"/>
          </a:xfrm>
          <a:prstGeom prst="roundRect">
            <a:avLst/>
          </a:prstGeom>
          <a:solidFill>
            <a:srgbClr val="788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5794095" y="91440"/>
            <a:ext cx="109728" cy="109728"/>
          </a:xfrm>
          <a:prstGeom prst="roundRect">
            <a:avLst/>
          </a:prstGeom>
          <a:solidFill>
            <a:srgbClr val="E0B8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958687" y="91440"/>
            <a:ext cx="109728" cy="109728"/>
          </a:xfrm>
          <a:prstGeom prst="roundRect">
            <a:avLst/>
          </a:prstGeom>
          <a:solidFill>
            <a:srgbClr val="788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123279" y="91440"/>
            <a:ext cx="109728" cy="109728"/>
          </a:xfrm>
          <a:prstGeom prst="roundRect">
            <a:avLst/>
          </a:prstGeom>
          <a:solidFill>
            <a:srgbClr val="788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287871" y="91440"/>
            <a:ext cx="109728" cy="109728"/>
          </a:xfrm>
          <a:prstGeom prst="roundRect">
            <a:avLst/>
          </a:prstGeom>
          <a:solidFill>
            <a:srgbClr val="788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452463" y="91440"/>
            <a:ext cx="109728" cy="109728"/>
          </a:xfrm>
          <a:prstGeom prst="roundRect">
            <a:avLst/>
          </a:prstGeom>
          <a:solidFill>
            <a:srgbClr val="788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617055" y="91440"/>
            <a:ext cx="109728" cy="109728"/>
          </a:xfrm>
          <a:prstGeom prst="roundRect">
            <a:avLst/>
          </a:prstGeom>
          <a:solidFill>
            <a:srgbClr val="788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781647" y="91440"/>
            <a:ext cx="109728" cy="109728"/>
          </a:xfrm>
          <a:prstGeom prst="roundRect">
            <a:avLst/>
          </a:prstGeom>
          <a:solidFill>
            <a:srgbClr val="788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946239" y="91440"/>
            <a:ext cx="109728" cy="109728"/>
          </a:xfrm>
          <a:prstGeom prst="roundRect">
            <a:avLst/>
          </a:prstGeom>
          <a:solidFill>
            <a:srgbClr val="788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7110831" y="91440"/>
            <a:ext cx="109728" cy="109728"/>
          </a:xfrm>
          <a:prstGeom prst="roundRect">
            <a:avLst/>
          </a:prstGeom>
          <a:solidFill>
            <a:srgbClr val="788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11480" y="685800"/>
            <a:ext cx="1755648" cy="292608"/>
          </a:xfrm>
          <a:prstGeom prst="roundRect">
            <a:avLst/>
          </a:prstGeom>
          <a:solidFill>
            <a:srgbClr val="1894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11480" y="704088"/>
            <a:ext cx="1755648" cy="256032"/>
          </a:xfrm>
          <a:prstGeom prst="rect">
            <a:avLst/>
          </a:prstGeom>
          <a:noFill/>
        </p:spPr>
        <p:txBody>
          <a:bodyPr wrap="square">
            <a:spAutoFit/>
          </a:bodyPr>
          <a:lstStyle/>
          <a:p>
            <a:pPr algn="ctr"/>
            <a:r>
              <a:rPr sz="1000" b="1" i="0">
                <a:solidFill>
                  <a:srgbClr val="FAFBFA"/>
                </a:solidFill>
                <a:latin typeface="Montserrat"/>
              </a:rPr>
              <a:t>TOOL ORIENTATION</a:t>
            </a:r>
          </a:p>
        </p:txBody>
      </p:sp>
      <p:sp>
        <p:nvSpPr>
          <p:cNvPr id="22" name="TextBox 21"/>
          <p:cNvSpPr txBox="1"/>
          <p:nvPr/>
        </p:nvSpPr>
        <p:spPr>
          <a:xfrm>
            <a:off x="411480" y="1078992"/>
            <a:ext cx="11338560" cy="777240"/>
          </a:xfrm>
          <a:prstGeom prst="rect">
            <a:avLst/>
          </a:prstGeom>
          <a:noFill/>
        </p:spPr>
        <p:txBody>
          <a:bodyPr wrap="square">
            <a:spAutoFit/>
          </a:bodyPr>
          <a:lstStyle/>
          <a:p>
            <a:pPr algn="l"/>
            <a:r>
              <a:rPr sz="2700" b="1" i="0">
                <a:solidFill>
                  <a:srgbClr val="FAFBFA"/>
                </a:solidFill>
                <a:latin typeface="Poppins"/>
              </a:rPr>
              <a:t>PromptAnything builds the prompt. You approve it.</a:t>
            </a:r>
          </a:p>
        </p:txBody>
      </p:sp>
      <p:sp>
        <p:nvSpPr>
          <p:cNvPr id="23" name="Rounded Rectangle 22"/>
          <p:cNvSpPr/>
          <p:nvPr/>
        </p:nvSpPr>
        <p:spPr>
          <a:xfrm>
            <a:off x="411480" y="1828800"/>
            <a:ext cx="11338560" cy="804672"/>
          </a:xfrm>
          <a:prstGeom prst="roundRect">
            <a:avLst/>
          </a:prstGeom>
          <a:solidFill>
            <a:srgbClr val="121626"/>
          </a:solidFill>
          <a:ln w="9525">
            <a:solidFill>
              <a:srgbClr val="121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548640" y="2011680"/>
            <a:ext cx="457200" cy="438912"/>
          </a:xfrm>
          <a:prstGeom prst="roundRect">
            <a:avLst/>
          </a:prstGeom>
          <a:solidFill>
            <a:srgbClr val="E0B8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48640" y="2011680"/>
            <a:ext cx="457200" cy="438912"/>
          </a:xfrm>
          <a:prstGeom prst="rect">
            <a:avLst/>
          </a:prstGeom>
          <a:noFill/>
        </p:spPr>
        <p:txBody>
          <a:bodyPr wrap="square">
            <a:spAutoFit/>
          </a:bodyPr>
          <a:lstStyle/>
          <a:p>
            <a:pPr algn="ctr"/>
            <a:r>
              <a:rPr sz="1100" b="1" i="0">
                <a:solidFill>
                  <a:srgbClr val="000814"/>
                </a:solidFill>
                <a:latin typeface="Montserrat"/>
              </a:rPr>
              <a:t>01</a:t>
            </a:r>
          </a:p>
        </p:txBody>
      </p:sp>
      <p:sp>
        <p:nvSpPr>
          <p:cNvPr id="26" name="TextBox 25"/>
          <p:cNvSpPr txBox="1"/>
          <p:nvPr/>
        </p:nvSpPr>
        <p:spPr>
          <a:xfrm>
            <a:off x="1188720" y="1993392"/>
            <a:ext cx="4114800" cy="384048"/>
          </a:xfrm>
          <a:prstGeom prst="rect">
            <a:avLst/>
          </a:prstGeom>
          <a:noFill/>
        </p:spPr>
        <p:txBody>
          <a:bodyPr wrap="square">
            <a:spAutoFit/>
          </a:bodyPr>
          <a:lstStyle/>
          <a:p>
            <a:pPr algn="l"/>
            <a:r>
              <a:rPr sz="1400" b="1" i="0">
                <a:solidFill>
                  <a:srgbClr val="FAFBFA"/>
                </a:solidFill>
                <a:latin typeface="Montserrat"/>
              </a:rPr>
              <a:t>Drop in rough prompt</a:t>
            </a:r>
          </a:p>
        </p:txBody>
      </p:sp>
      <p:sp>
        <p:nvSpPr>
          <p:cNvPr id="27" name="TextBox 26"/>
          <p:cNvSpPr txBox="1"/>
          <p:nvPr/>
        </p:nvSpPr>
        <p:spPr>
          <a:xfrm>
            <a:off x="5486400" y="2011680"/>
            <a:ext cx="6126480" cy="384048"/>
          </a:xfrm>
          <a:prstGeom prst="rect">
            <a:avLst/>
          </a:prstGeom>
          <a:noFill/>
        </p:spPr>
        <p:txBody>
          <a:bodyPr wrap="square">
            <a:spAutoFit/>
          </a:bodyPr>
          <a:lstStyle/>
          <a:p>
            <a:pPr algn="l"/>
            <a:r>
              <a:rPr sz="1300" b="0" i="0">
                <a:solidFill>
                  <a:srgbClr val="C8CDD7"/>
                </a:solidFill>
                <a:latin typeface="Open Sans"/>
              </a:rPr>
              <a:t>Plain language. Incomplete is fine.</a:t>
            </a:r>
          </a:p>
        </p:txBody>
      </p:sp>
      <p:sp>
        <p:nvSpPr>
          <p:cNvPr id="28" name="Rectangle 27"/>
          <p:cNvSpPr/>
          <p:nvPr/>
        </p:nvSpPr>
        <p:spPr>
          <a:xfrm>
            <a:off x="411480" y="2651760"/>
            <a:ext cx="11338560" cy="9144"/>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411480" y="2761488"/>
            <a:ext cx="11338560" cy="804672"/>
          </a:xfrm>
          <a:prstGeom prst="roundRect">
            <a:avLst/>
          </a:prstGeom>
          <a:solidFill>
            <a:srgbClr val="121626"/>
          </a:solidFill>
          <a:ln w="9525">
            <a:solidFill>
              <a:srgbClr val="121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548640" y="2944368"/>
            <a:ext cx="457200" cy="438912"/>
          </a:xfrm>
          <a:prstGeom prst="roundRect">
            <a:avLst/>
          </a:prstGeom>
          <a:solidFill>
            <a:srgbClr val="1894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48640" y="2944368"/>
            <a:ext cx="457200" cy="438912"/>
          </a:xfrm>
          <a:prstGeom prst="rect">
            <a:avLst/>
          </a:prstGeom>
          <a:noFill/>
        </p:spPr>
        <p:txBody>
          <a:bodyPr wrap="square">
            <a:spAutoFit/>
          </a:bodyPr>
          <a:lstStyle/>
          <a:p>
            <a:pPr algn="ctr"/>
            <a:r>
              <a:rPr sz="1100" b="1" i="0">
                <a:solidFill>
                  <a:srgbClr val="000814"/>
                </a:solidFill>
                <a:latin typeface="Montserrat"/>
              </a:rPr>
              <a:t>02</a:t>
            </a:r>
          </a:p>
        </p:txBody>
      </p:sp>
      <p:sp>
        <p:nvSpPr>
          <p:cNvPr id="32" name="TextBox 31"/>
          <p:cNvSpPr txBox="1"/>
          <p:nvPr/>
        </p:nvSpPr>
        <p:spPr>
          <a:xfrm>
            <a:off x="1188720" y="2926080"/>
            <a:ext cx="4114800" cy="384048"/>
          </a:xfrm>
          <a:prstGeom prst="rect">
            <a:avLst/>
          </a:prstGeom>
          <a:noFill/>
        </p:spPr>
        <p:txBody>
          <a:bodyPr wrap="square">
            <a:spAutoFit/>
          </a:bodyPr>
          <a:lstStyle/>
          <a:p>
            <a:pPr algn="l"/>
            <a:r>
              <a:rPr sz="1400" b="1" i="0">
                <a:solidFill>
                  <a:srgbClr val="FAFBFA"/>
                </a:solidFill>
                <a:latin typeface="Montserrat"/>
              </a:rPr>
              <a:t>Select: Agent</a:t>
            </a:r>
          </a:p>
        </p:txBody>
      </p:sp>
      <p:sp>
        <p:nvSpPr>
          <p:cNvPr id="33" name="TextBox 32"/>
          <p:cNvSpPr txBox="1"/>
          <p:nvPr/>
        </p:nvSpPr>
        <p:spPr>
          <a:xfrm>
            <a:off x="5486400" y="2944368"/>
            <a:ext cx="6126480" cy="384048"/>
          </a:xfrm>
          <a:prstGeom prst="rect">
            <a:avLst/>
          </a:prstGeom>
          <a:noFill/>
        </p:spPr>
        <p:txBody>
          <a:bodyPr wrap="square">
            <a:spAutoFit/>
          </a:bodyPr>
          <a:lstStyle/>
          <a:p>
            <a:pPr algn="l"/>
            <a:r>
              <a:rPr sz="1300" b="0" i="0">
                <a:solidFill>
                  <a:srgbClr val="C8CDD7"/>
                </a:solidFill>
                <a:latin typeface="Open Sans"/>
              </a:rPr>
              <a:t>For Claude Projects. Direct use, not automation pipeline.</a:t>
            </a:r>
          </a:p>
        </p:txBody>
      </p:sp>
      <p:sp>
        <p:nvSpPr>
          <p:cNvPr id="34" name="Rectangle 33"/>
          <p:cNvSpPr/>
          <p:nvPr/>
        </p:nvSpPr>
        <p:spPr>
          <a:xfrm>
            <a:off x="411480" y="3584448"/>
            <a:ext cx="11338560" cy="9144"/>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411480" y="3694176"/>
            <a:ext cx="11338560" cy="804672"/>
          </a:xfrm>
          <a:prstGeom prst="roundRect">
            <a:avLst/>
          </a:prstGeom>
          <a:solidFill>
            <a:srgbClr val="121626"/>
          </a:solidFill>
          <a:ln w="9525">
            <a:solidFill>
              <a:srgbClr val="121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548640" y="3877056"/>
            <a:ext cx="457200" cy="438912"/>
          </a:xfrm>
          <a:prstGeom prst="roundRect">
            <a:avLst/>
          </a:prstGeom>
          <a:solidFill>
            <a:srgbClr val="E0B8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48640" y="3877056"/>
            <a:ext cx="457200" cy="438912"/>
          </a:xfrm>
          <a:prstGeom prst="rect">
            <a:avLst/>
          </a:prstGeom>
          <a:noFill/>
        </p:spPr>
        <p:txBody>
          <a:bodyPr wrap="square">
            <a:spAutoFit/>
          </a:bodyPr>
          <a:lstStyle/>
          <a:p>
            <a:pPr algn="ctr"/>
            <a:r>
              <a:rPr sz="1100" b="1" i="0">
                <a:solidFill>
                  <a:srgbClr val="000814"/>
                </a:solidFill>
                <a:latin typeface="Montserrat"/>
              </a:rPr>
              <a:t>03</a:t>
            </a:r>
          </a:p>
        </p:txBody>
      </p:sp>
      <p:sp>
        <p:nvSpPr>
          <p:cNvPr id="38" name="TextBox 37"/>
          <p:cNvSpPr txBox="1"/>
          <p:nvPr/>
        </p:nvSpPr>
        <p:spPr>
          <a:xfrm>
            <a:off x="1188720" y="3858768"/>
            <a:ext cx="4114800" cy="384048"/>
          </a:xfrm>
          <a:prstGeom prst="rect">
            <a:avLst/>
          </a:prstGeom>
          <a:noFill/>
        </p:spPr>
        <p:txBody>
          <a:bodyPr wrap="square">
            <a:spAutoFit/>
          </a:bodyPr>
          <a:lstStyle/>
          <a:p>
            <a:pPr algn="l"/>
            <a:r>
              <a:rPr sz="1400" b="1" i="0">
                <a:solidFill>
                  <a:srgbClr val="FAFBFA"/>
                </a:solidFill>
                <a:latin typeface="Montserrat"/>
              </a:rPr>
              <a:t>Review AI questions</a:t>
            </a:r>
          </a:p>
        </p:txBody>
      </p:sp>
      <p:sp>
        <p:nvSpPr>
          <p:cNvPr id="39" name="TextBox 38"/>
          <p:cNvSpPr txBox="1"/>
          <p:nvPr/>
        </p:nvSpPr>
        <p:spPr>
          <a:xfrm>
            <a:off x="5486400" y="3877056"/>
            <a:ext cx="6126480" cy="384048"/>
          </a:xfrm>
          <a:prstGeom prst="rect">
            <a:avLst/>
          </a:prstGeom>
          <a:noFill/>
        </p:spPr>
        <p:txBody>
          <a:bodyPr wrap="square">
            <a:spAutoFit/>
          </a:bodyPr>
          <a:lstStyle/>
          <a:p>
            <a:pPr algn="l"/>
            <a:r>
              <a:rPr sz="1300" b="0" i="0">
                <a:solidFill>
                  <a:srgbClr val="C8CDD7"/>
                </a:solidFill>
                <a:latin typeface="Open Sans"/>
              </a:rPr>
              <a:t>Tool surfaces gaps and drafts answers. You review, not write.</a:t>
            </a:r>
          </a:p>
        </p:txBody>
      </p:sp>
      <p:sp>
        <p:nvSpPr>
          <p:cNvPr id="40" name="Rectangle 39"/>
          <p:cNvSpPr/>
          <p:nvPr/>
        </p:nvSpPr>
        <p:spPr>
          <a:xfrm>
            <a:off x="411480" y="4517136"/>
            <a:ext cx="11338560" cy="9144"/>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ounded Rectangle 40"/>
          <p:cNvSpPr/>
          <p:nvPr/>
        </p:nvSpPr>
        <p:spPr>
          <a:xfrm>
            <a:off x="411480" y="4626864"/>
            <a:ext cx="11338560" cy="804672"/>
          </a:xfrm>
          <a:prstGeom prst="roundRect">
            <a:avLst/>
          </a:prstGeom>
          <a:solidFill>
            <a:srgbClr val="121626"/>
          </a:solidFill>
          <a:ln w="9525">
            <a:solidFill>
              <a:srgbClr val="121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ounded Rectangle 41"/>
          <p:cNvSpPr/>
          <p:nvPr/>
        </p:nvSpPr>
        <p:spPr>
          <a:xfrm>
            <a:off x="548640" y="4809744"/>
            <a:ext cx="457200" cy="438912"/>
          </a:xfrm>
          <a:prstGeom prst="roundRect">
            <a:avLst/>
          </a:prstGeom>
          <a:solidFill>
            <a:srgbClr val="1894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48640" y="4809744"/>
            <a:ext cx="457200" cy="438912"/>
          </a:xfrm>
          <a:prstGeom prst="rect">
            <a:avLst/>
          </a:prstGeom>
          <a:noFill/>
        </p:spPr>
        <p:txBody>
          <a:bodyPr wrap="square">
            <a:spAutoFit/>
          </a:bodyPr>
          <a:lstStyle/>
          <a:p>
            <a:pPr algn="ctr"/>
            <a:r>
              <a:rPr sz="1100" b="1" i="0">
                <a:solidFill>
                  <a:srgbClr val="000814"/>
                </a:solidFill>
                <a:latin typeface="Montserrat"/>
              </a:rPr>
              <a:t>04</a:t>
            </a:r>
          </a:p>
        </p:txBody>
      </p:sp>
      <p:sp>
        <p:nvSpPr>
          <p:cNvPr id="44" name="TextBox 43"/>
          <p:cNvSpPr txBox="1"/>
          <p:nvPr/>
        </p:nvSpPr>
        <p:spPr>
          <a:xfrm>
            <a:off x="1188720" y="4791456"/>
            <a:ext cx="4114800" cy="384048"/>
          </a:xfrm>
          <a:prstGeom prst="rect">
            <a:avLst/>
          </a:prstGeom>
          <a:noFill/>
        </p:spPr>
        <p:txBody>
          <a:bodyPr wrap="square">
            <a:spAutoFit/>
          </a:bodyPr>
          <a:lstStyle/>
          <a:p>
            <a:pPr algn="l"/>
            <a:r>
              <a:rPr sz="1400" b="1" i="0">
                <a:solidFill>
                  <a:srgbClr val="FAFBFA"/>
                </a:solidFill>
                <a:latin typeface="Montserrat"/>
              </a:rPr>
              <a:t>Refine answers</a:t>
            </a:r>
          </a:p>
        </p:txBody>
      </p:sp>
      <p:sp>
        <p:nvSpPr>
          <p:cNvPr id="45" name="TextBox 44"/>
          <p:cNvSpPr txBox="1"/>
          <p:nvPr/>
        </p:nvSpPr>
        <p:spPr>
          <a:xfrm>
            <a:off x="5486400" y="4809744"/>
            <a:ext cx="6126480" cy="384048"/>
          </a:xfrm>
          <a:prstGeom prst="rect">
            <a:avLst/>
          </a:prstGeom>
          <a:noFill/>
        </p:spPr>
        <p:txBody>
          <a:bodyPr wrap="square">
            <a:spAutoFit/>
          </a:bodyPr>
          <a:lstStyle/>
          <a:p>
            <a:pPr algn="l"/>
            <a:r>
              <a:rPr sz="1300" b="0" i="0">
                <a:solidFill>
                  <a:srgbClr val="C8CDD7"/>
                </a:solidFill>
                <a:latin typeface="Open Sans"/>
              </a:rPr>
              <a:t>Correct what's wrong. Approve what's right.</a:t>
            </a:r>
          </a:p>
        </p:txBody>
      </p:sp>
      <p:sp>
        <p:nvSpPr>
          <p:cNvPr id="46" name="Rectangle 45"/>
          <p:cNvSpPr/>
          <p:nvPr/>
        </p:nvSpPr>
        <p:spPr>
          <a:xfrm>
            <a:off x="411480" y="5449824"/>
            <a:ext cx="11338560" cy="9144"/>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ounded Rectangle 46"/>
          <p:cNvSpPr/>
          <p:nvPr/>
        </p:nvSpPr>
        <p:spPr>
          <a:xfrm>
            <a:off x="411480" y="5559552"/>
            <a:ext cx="11338560" cy="804672"/>
          </a:xfrm>
          <a:prstGeom prst="roundRect">
            <a:avLst/>
          </a:prstGeom>
          <a:solidFill>
            <a:srgbClr val="121626"/>
          </a:solidFill>
          <a:ln w="9525">
            <a:solidFill>
              <a:srgbClr val="121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ounded Rectangle 47"/>
          <p:cNvSpPr/>
          <p:nvPr/>
        </p:nvSpPr>
        <p:spPr>
          <a:xfrm>
            <a:off x="548640" y="5742432"/>
            <a:ext cx="457200" cy="438912"/>
          </a:xfrm>
          <a:prstGeom prst="roundRect">
            <a:avLst/>
          </a:prstGeom>
          <a:solidFill>
            <a:srgbClr val="E0B8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48640" y="5742432"/>
            <a:ext cx="457200" cy="438912"/>
          </a:xfrm>
          <a:prstGeom prst="rect">
            <a:avLst/>
          </a:prstGeom>
          <a:noFill/>
        </p:spPr>
        <p:txBody>
          <a:bodyPr wrap="square">
            <a:spAutoFit/>
          </a:bodyPr>
          <a:lstStyle/>
          <a:p>
            <a:pPr algn="ctr"/>
            <a:r>
              <a:rPr sz="1100" b="1" i="0">
                <a:solidFill>
                  <a:srgbClr val="000814"/>
                </a:solidFill>
                <a:latin typeface="Montserrat"/>
              </a:rPr>
              <a:t>05</a:t>
            </a:r>
          </a:p>
        </p:txBody>
      </p:sp>
      <p:sp>
        <p:nvSpPr>
          <p:cNvPr id="50" name="TextBox 49"/>
          <p:cNvSpPr txBox="1"/>
          <p:nvPr/>
        </p:nvSpPr>
        <p:spPr>
          <a:xfrm>
            <a:off x="1188720" y="5724144"/>
            <a:ext cx="4114800" cy="384048"/>
          </a:xfrm>
          <a:prstGeom prst="rect">
            <a:avLst/>
          </a:prstGeom>
          <a:noFill/>
        </p:spPr>
        <p:txBody>
          <a:bodyPr wrap="square">
            <a:spAutoFit/>
          </a:bodyPr>
          <a:lstStyle/>
          <a:p>
            <a:pPr algn="l"/>
            <a:r>
              <a:rPr sz="1400" b="1" i="0">
                <a:solidFill>
                  <a:srgbClr val="FAFBFA"/>
                </a:solidFill>
                <a:latin typeface="Montserrat"/>
              </a:rPr>
              <a:t>Generate + push to Claude</a:t>
            </a:r>
          </a:p>
        </p:txBody>
      </p:sp>
      <p:sp>
        <p:nvSpPr>
          <p:cNvPr id="51" name="TextBox 50"/>
          <p:cNvSpPr txBox="1"/>
          <p:nvPr/>
        </p:nvSpPr>
        <p:spPr>
          <a:xfrm>
            <a:off x="5486400" y="5742432"/>
            <a:ext cx="6126480" cy="384048"/>
          </a:xfrm>
          <a:prstGeom prst="rect">
            <a:avLst/>
          </a:prstGeom>
          <a:noFill/>
        </p:spPr>
        <p:txBody>
          <a:bodyPr wrap="square">
            <a:spAutoFit/>
          </a:bodyPr>
          <a:lstStyle/>
          <a:p>
            <a:pPr algn="l"/>
            <a:r>
              <a:rPr sz="1300" b="0" i="0">
                <a:solidFill>
                  <a:srgbClr val="C8CDD7"/>
                </a:solidFill>
                <a:latin typeface="Open Sans"/>
              </a:rPr>
              <a:t>Copy → paste as Claude Project instructions → run.</a:t>
            </a:r>
          </a:p>
        </p:txBody>
      </p:sp>
      <p:sp>
        <p:nvSpPr>
          <p:cNvPr id="52" name="Rounded Rectangle 51"/>
          <p:cNvSpPr/>
          <p:nvPr/>
        </p:nvSpPr>
        <p:spPr>
          <a:xfrm>
            <a:off x="411480" y="6492240"/>
            <a:ext cx="11338560" cy="256032"/>
          </a:xfrm>
          <a:prstGeom prst="roundRect">
            <a:avLst/>
          </a:prstGeom>
          <a:solidFill>
            <a:srgbClr val="0008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411480" y="6510528"/>
            <a:ext cx="11338560" cy="201168"/>
          </a:xfrm>
          <a:prstGeom prst="rect">
            <a:avLst/>
          </a:prstGeom>
          <a:noFill/>
        </p:spPr>
        <p:txBody>
          <a:bodyPr wrap="square">
            <a:spAutoFit/>
          </a:bodyPr>
          <a:lstStyle/>
          <a:p>
            <a:pPr algn="ctr"/>
            <a:r>
              <a:rPr sz="1200" b="0" i="0">
                <a:solidFill>
                  <a:srgbClr val="E0B848"/>
                </a:solidFill>
                <a:latin typeface="Montserrat"/>
              </a:rPr>
              <a:t>NOW: Create 3 Claude Projects  →  Sales Copywriting Agent  ·  Google Email Hub  ·  Social Chatter Agent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00814"/>
        </a:solidFill>
        <a:effectLst/>
      </p:bgPr>
    </p:bg>
    <p:spTree>
      <p:nvGrpSpPr>
        <p:cNvPr id="1" name=""/>
        <p:cNvGrpSpPr/>
        <p:nvPr/>
      </p:nvGrpSpPr>
      <p:grpSpPr/>
      <p:sp>
        <p:nvSpPr>
          <p:cNvPr id="2" name="TextBox 1"/>
          <p:cNvSpPr txBox="1"/>
          <p:nvPr/>
        </p:nvSpPr>
        <p:spPr>
          <a:xfrm>
            <a:off x="411480" y="164592"/>
            <a:ext cx="1005840" cy="347472"/>
          </a:xfrm>
          <a:prstGeom prst="rect">
            <a:avLst/>
          </a:prstGeom>
          <a:noFill/>
        </p:spPr>
        <p:txBody>
          <a:bodyPr wrap="square">
            <a:spAutoFit/>
          </a:bodyPr>
          <a:lstStyle/>
          <a:p>
            <a:pPr algn="l"/>
            <a:r>
              <a:rPr sz="1500" b="1" i="0">
                <a:solidFill>
                  <a:srgbClr val="FAFBFA"/>
                </a:solidFill>
                <a:latin typeface="Poppins"/>
              </a:rPr>
              <a:t>BISHOP</a:t>
            </a:r>
          </a:p>
        </p:txBody>
      </p:sp>
      <p:sp>
        <p:nvSpPr>
          <p:cNvPr id="3" name="TextBox 2"/>
          <p:cNvSpPr txBox="1"/>
          <p:nvPr/>
        </p:nvSpPr>
        <p:spPr>
          <a:xfrm>
            <a:off x="1371600" y="164592"/>
            <a:ext cx="457200" cy="347472"/>
          </a:xfrm>
          <a:prstGeom prst="rect">
            <a:avLst/>
          </a:prstGeom>
          <a:noFill/>
        </p:spPr>
        <p:txBody>
          <a:bodyPr wrap="square">
            <a:spAutoFit/>
          </a:bodyPr>
          <a:lstStyle/>
          <a:p>
            <a:pPr algn="l"/>
            <a:r>
              <a:rPr sz="1500" b="1" i="0">
                <a:solidFill>
                  <a:srgbClr val="E0B848"/>
                </a:solidFill>
                <a:latin typeface="Poppins"/>
              </a:rPr>
              <a:t>AI</a:t>
            </a:r>
          </a:p>
        </p:txBody>
      </p:sp>
      <p:sp>
        <p:nvSpPr>
          <p:cNvPr id="4" name="Rectangle 3"/>
          <p:cNvSpPr/>
          <p:nvPr/>
        </p:nvSpPr>
        <p:spPr>
          <a:xfrm>
            <a:off x="0" y="6601968"/>
            <a:ext cx="12191695" cy="256032"/>
          </a:xfrm>
          <a:prstGeom prst="rect">
            <a:avLst/>
          </a:prstGeom>
          <a:solidFill>
            <a:srgbClr val="121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620256"/>
            <a:ext cx="11247120" cy="201168"/>
          </a:xfrm>
          <a:prstGeom prst="rect">
            <a:avLst/>
          </a:prstGeom>
          <a:noFill/>
        </p:spPr>
        <p:txBody>
          <a:bodyPr wrap="square">
            <a:spAutoFit/>
          </a:bodyPr>
          <a:lstStyle/>
          <a:p>
            <a:pPr algn="ctr"/>
            <a:r>
              <a:rPr sz="900" b="0" i="0">
                <a:solidFill>
                  <a:srgbClr val="788296"/>
                </a:solidFill>
                <a:latin typeface="Open Sans"/>
              </a:rPr>
              <a:t>PromptAnything.io  ·  BishopAI.com  ·  calendly.com/richmond  ·  Automation Nation</a:t>
            </a:r>
          </a:p>
        </p:txBody>
      </p:sp>
      <p:sp>
        <p:nvSpPr>
          <p:cNvPr id="6" name="Rounded Rectangle 5"/>
          <p:cNvSpPr/>
          <p:nvPr/>
        </p:nvSpPr>
        <p:spPr>
          <a:xfrm>
            <a:off x="4971135" y="91440"/>
            <a:ext cx="109728" cy="109728"/>
          </a:xfrm>
          <a:prstGeom prst="roundRect">
            <a:avLst/>
          </a:prstGeom>
          <a:solidFill>
            <a:srgbClr val="788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135727" y="91440"/>
            <a:ext cx="109728" cy="109728"/>
          </a:xfrm>
          <a:prstGeom prst="roundRect">
            <a:avLst/>
          </a:prstGeom>
          <a:solidFill>
            <a:srgbClr val="788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300319" y="91440"/>
            <a:ext cx="109728" cy="109728"/>
          </a:xfrm>
          <a:prstGeom prst="roundRect">
            <a:avLst/>
          </a:prstGeom>
          <a:solidFill>
            <a:srgbClr val="788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464911" y="91440"/>
            <a:ext cx="109728" cy="109728"/>
          </a:xfrm>
          <a:prstGeom prst="roundRect">
            <a:avLst/>
          </a:prstGeom>
          <a:solidFill>
            <a:srgbClr val="788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629503" y="91440"/>
            <a:ext cx="109728" cy="109728"/>
          </a:xfrm>
          <a:prstGeom prst="roundRect">
            <a:avLst/>
          </a:prstGeom>
          <a:solidFill>
            <a:srgbClr val="788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5794095" y="91440"/>
            <a:ext cx="109728" cy="109728"/>
          </a:xfrm>
          <a:prstGeom prst="roundRect">
            <a:avLst/>
          </a:prstGeom>
          <a:solidFill>
            <a:srgbClr val="788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958687" y="91440"/>
            <a:ext cx="109728" cy="109728"/>
          </a:xfrm>
          <a:prstGeom prst="roundRect">
            <a:avLst/>
          </a:prstGeom>
          <a:solidFill>
            <a:srgbClr val="E0B8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123279" y="91440"/>
            <a:ext cx="109728" cy="109728"/>
          </a:xfrm>
          <a:prstGeom prst="roundRect">
            <a:avLst/>
          </a:prstGeom>
          <a:solidFill>
            <a:srgbClr val="788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287871" y="91440"/>
            <a:ext cx="109728" cy="109728"/>
          </a:xfrm>
          <a:prstGeom prst="roundRect">
            <a:avLst/>
          </a:prstGeom>
          <a:solidFill>
            <a:srgbClr val="788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452463" y="91440"/>
            <a:ext cx="109728" cy="109728"/>
          </a:xfrm>
          <a:prstGeom prst="roundRect">
            <a:avLst/>
          </a:prstGeom>
          <a:solidFill>
            <a:srgbClr val="788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617055" y="91440"/>
            <a:ext cx="109728" cy="109728"/>
          </a:xfrm>
          <a:prstGeom prst="roundRect">
            <a:avLst/>
          </a:prstGeom>
          <a:solidFill>
            <a:srgbClr val="788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781647" y="91440"/>
            <a:ext cx="109728" cy="109728"/>
          </a:xfrm>
          <a:prstGeom prst="roundRect">
            <a:avLst/>
          </a:prstGeom>
          <a:solidFill>
            <a:srgbClr val="788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946239" y="91440"/>
            <a:ext cx="109728" cy="109728"/>
          </a:xfrm>
          <a:prstGeom prst="roundRect">
            <a:avLst/>
          </a:prstGeom>
          <a:solidFill>
            <a:srgbClr val="788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7110831" y="91440"/>
            <a:ext cx="109728" cy="109728"/>
          </a:xfrm>
          <a:prstGeom prst="roundRect">
            <a:avLst/>
          </a:prstGeom>
          <a:solidFill>
            <a:srgbClr val="788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11480" y="685800"/>
            <a:ext cx="1408176" cy="292608"/>
          </a:xfrm>
          <a:prstGeom prst="roundRect">
            <a:avLst/>
          </a:prstGeom>
          <a:solidFill>
            <a:srgbClr val="E0B8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11480" y="704088"/>
            <a:ext cx="1408176" cy="256032"/>
          </a:xfrm>
          <a:prstGeom prst="rect">
            <a:avLst/>
          </a:prstGeom>
          <a:noFill/>
        </p:spPr>
        <p:txBody>
          <a:bodyPr wrap="square">
            <a:spAutoFit/>
          </a:bodyPr>
          <a:lstStyle/>
          <a:p>
            <a:pPr algn="ctr"/>
            <a:r>
              <a:rPr sz="1000" b="1" i="0">
                <a:solidFill>
                  <a:srgbClr val="FAFBFA"/>
                </a:solidFill>
                <a:latin typeface="Montserrat"/>
              </a:rPr>
              <a:t>BUILD 1 OF 3</a:t>
            </a:r>
          </a:p>
        </p:txBody>
      </p:sp>
      <p:sp>
        <p:nvSpPr>
          <p:cNvPr id="22" name="TextBox 21"/>
          <p:cNvSpPr txBox="1"/>
          <p:nvPr/>
        </p:nvSpPr>
        <p:spPr>
          <a:xfrm>
            <a:off x="411480" y="1078992"/>
            <a:ext cx="11338560" cy="777240"/>
          </a:xfrm>
          <a:prstGeom prst="rect">
            <a:avLst/>
          </a:prstGeom>
          <a:noFill/>
        </p:spPr>
        <p:txBody>
          <a:bodyPr wrap="square">
            <a:spAutoFit/>
          </a:bodyPr>
          <a:lstStyle/>
          <a:p>
            <a:pPr algn="l"/>
            <a:r>
              <a:rPr sz="2600" b="1" i="0">
                <a:solidFill>
                  <a:srgbClr val="FAFBFA"/>
                </a:solidFill>
                <a:latin typeface="Poppins"/>
              </a:rPr>
              <a:t>Prompt 1: Sales Copywriting Agent</a:t>
            </a:r>
          </a:p>
        </p:txBody>
      </p:sp>
      <p:sp>
        <p:nvSpPr>
          <p:cNvPr id="23" name="Rounded Rectangle 22"/>
          <p:cNvSpPr/>
          <p:nvPr/>
        </p:nvSpPr>
        <p:spPr>
          <a:xfrm>
            <a:off x="411480" y="1938528"/>
            <a:ext cx="11338560" cy="457200"/>
          </a:xfrm>
          <a:prstGeom prst="roundRect">
            <a:avLst/>
          </a:prstGeom>
          <a:solidFill>
            <a:srgbClr val="1E2333"/>
          </a:solidFill>
          <a:ln w="6350">
            <a:solidFill>
              <a:srgbClr val="E0B8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94360" y="1984248"/>
            <a:ext cx="10972800" cy="347472"/>
          </a:xfrm>
          <a:prstGeom prst="rect">
            <a:avLst/>
          </a:prstGeom>
          <a:noFill/>
        </p:spPr>
        <p:txBody>
          <a:bodyPr wrap="square">
            <a:spAutoFit/>
          </a:bodyPr>
          <a:lstStyle/>
          <a:p>
            <a:pPr algn="l"/>
            <a:r>
              <a:rPr sz="1300" b="0" i="0">
                <a:solidFill>
                  <a:srgbClr val="C8CDD7"/>
                </a:solidFill>
                <a:latin typeface="Open Sans"/>
              </a:rPr>
              <a:t>⚡  Reps post nothing or sound like everyone else. Prospect comments go unsent or pitch — which is worse than silence.</a:t>
            </a:r>
          </a:p>
        </p:txBody>
      </p:sp>
      <p:sp>
        <p:nvSpPr>
          <p:cNvPr id="25" name="Rounded Rectangle 24"/>
          <p:cNvSpPr/>
          <p:nvPr/>
        </p:nvSpPr>
        <p:spPr>
          <a:xfrm>
            <a:off x="411480" y="2542032"/>
            <a:ext cx="11338560" cy="384048"/>
          </a:xfrm>
          <a:prstGeom prst="roundRect">
            <a:avLst/>
          </a:prstGeom>
          <a:solidFill>
            <a:srgbClr val="282D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11480" y="2834640"/>
            <a:ext cx="11338560" cy="73152"/>
          </a:xfrm>
          <a:prstGeom prst="rect">
            <a:avLst/>
          </a:prstGeom>
          <a:solidFill>
            <a:srgbClr val="282D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621792" y="2651760"/>
            <a:ext cx="164592" cy="164592"/>
          </a:xfrm>
          <a:prstGeom prst="roundRect">
            <a:avLst/>
          </a:prstGeom>
          <a:solidFill>
            <a:srgbClr val="FF5A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877824" y="2651760"/>
            <a:ext cx="164592" cy="164592"/>
          </a:xfrm>
          <a:prstGeom prst="roundRect">
            <a:avLst/>
          </a:prstGeom>
          <a:solidFill>
            <a:srgbClr val="FFBE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1133856" y="2651760"/>
            <a:ext cx="164592" cy="164592"/>
          </a:xfrm>
          <a:prstGeom prst="roundRect">
            <a:avLst/>
          </a:prstGeom>
          <a:solidFill>
            <a:srgbClr val="50C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371600" y="2606040"/>
            <a:ext cx="5486400" cy="274320"/>
          </a:xfrm>
          <a:prstGeom prst="rect">
            <a:avLst/>
          </a:prstGeom>
          <a:noFill/>
        </p:spPr>
        <p:txBody>
          <a:bodyPr wrap="square">
            <a:spAutoFit/>
          </a:bodyPr>
          <a:lstStyle/>
          <a:p>
            <a:pPr algn="l"/>
            <a:r>
              <a:rPr sz="1100" b="0" i="0">
                <a:solidFill>
                  <a:srgbClr val="788296"/>
                </a:solidFill>
                <a:latin typeface="Courier New"/>
              </a:rPr>
              <a:t>rough_prompt.txt</a:t>
            </a:r>
          </a:p>
        </p:txBody>
      </p:sp>
      <p:sp>
        <p:nvSpPr>
          <p:cNvPr id="31" name="Rounded Rectangle 30"/>
          <p:cNvSpPr/>
          <p:nvPr/>
        </p:nvSpPr>
        <p:spPr>
          <a:xfrm>
            <a:off x="9601200" y="2633472"/>
            <a:ext cx="1408176" cy="292608"/>
          </a:xfrm>
          <a:prstGeom prst="roundRect">
            <a:avLst/>
          </a:prstGeom>
          <a:solidFill>
            <a:srgbClr val="E0B8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601200" y="2651760"/>
            <a:ext cx="1408176" cy="256032"/>
          </a:xfrm>
          <a:prstGeom prst="rect">
            <a:avLst/>
          </a:prstGeom>
          <a:noFill/>
        </p:spPr>
        <p:txBody>
          <a:bodyPr wrap="square">
            <a:spAutoFit/>
          </a:bodyPr>
          <a:lstStyle/>
          <a:p>
            <a:pPr algn="ctr"/>
            <a:r>
              <a:rPr sz="900" b="1" i="0">
                <a:solidFill>
                  <a:srgbClr val="000814"/>
                </a:solidFill>
                <a:latin typeface="Montserrat"/>
              </a:rPr>
              <a:t>ROUGH PROMPT</a:t>
            </a:r>
          </a:p>
        </p:txBody>
      </p:sp>
      <p:sp>
        <p:nvSpPr>
          <p:cNvPr id="33" name="Rounded Rectangle 32"/>
          <p:cNvSpPr/>
          <p:nvPr/>
        </p:nvSpPr>
        <p:spPr>
          <a:xfrm>
            <a:off x="411480" y="2907792"/>
            <a:ext cx="11338560" cy="2743200"/>
          </a:xfrm>
          <a:prstGeom prst="roundRect">
            <a:avLst/>
          </a:prstGeom>
          <a:solidFill>
            <a:srgbClr val="0C1020"/>
          </a:solidFill>
          <a:ln w="6350">
            <a:solidFill>
              <a:srgbClr val="2832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411480" y="2907792"/>
            <a:ext cx="11338560" cy="137160"/>
          </a:xfrm>
          <a:prstGeom prst="rect">
            <a:avLst/>
          </a:prstGeom>
          <a:solidFill>
            <a:srgbClr val="0C1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58368" y="2999232"/>
            <a:ext cx="10881360" cy="2514600"/>
          </a:xfrm>
          <a:prstGeom prst="rect">
            <a:avLst/>
          </a:prstGeom>
          <a:noFill/>
        </p:spPr>
        <p:txBody>
          <a:bodyPr wrap="square">
            <a:spAutoFit/>
          </a:bodyPr>
          <a:lstStyle/>
          <a:p>
            <a:r>
              <a:rPr sz="1300">
                <a:solidFill>
                  <a:srgbClr val="B4DCB4"/>
                </a:solidFill>
                <a:latin typeface="Courier New"/>
              </a:rPr>
              <a:t>I want an AI that writes LinkedIn posts for me in my voice
and also writes comments I can post on prospects' LinkedIn posts.
My name is Amanda. I sell pipeline intelligence software to sales leaders.
My tone is direct and insight-led.
I don't do inspirational quotes or motivational fluff.</a:t>
            </a:r>
          </a:p>
        </p:txBody>
      </p:sp>
      <p:sp>
        <p:nvSpPr>
          <p:cNvPr id="36" name="Rounded Rectangle 35"/>
          <p:cNvSpPr/>
          <p:nvPr/>
        </p:nvSpPr>
        <p:spPr>
          <a:xfrm>
            <a:off x="411480" y="5806440"/>
            <a:ext cx="11338560" cy="384048"/>
          </a:xfrm>
          <a:prstGeom prst="round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94360" y="5852160"/>
            <a:ext cx="10972800" cy="320040"/>
          </a:xfrm>
          <a:prstGeom prst="rect">
            <a:avLst/>
          </a:prstGeom>
          <a:noFill/>
        </p:spPr>
        <p:txBody>
          <a:bodyPr wrap="square">
            <a:spAutoFit/>
          </a:bodyPr>
          <a:lstStyle/>
          <a:p>
            <a:pPr algn="ctr"/>
            <a:r>
              <a:rPr sz="1200" b="0" i="0">
                <a:solidFill>
                  <a:srgbClr val="1894C9"/>
                </a:solidFill>
                <a:latin typeface="Montserrat"/>
              </a:rPr>
              <a:t>Paste into PromptAnything  →  Agent  →  Review questions  →  Refine  →  Generate  →  Push to Claude Project</a:t>
            </a:r>
          </a:p>
        </p:txBody>
      </p:sp>
      <p:sp>
        <p:nvSpPr>
          <p:cNvPr id="38" name="Rectangle 37"/>
          <p:cNvSpPr/>
          <p:nvPr/>
        </p:nvSpPr>
        <p:spPr>
          <a:xfrm>
            <a:off x="0" y="6601968"/>
            <a:ext cx="12191695" cy="256032"/>
          </a:xfrm>
          <a:prstGeom prst="rect">
            <a:avLst/>
          </a:prstGeom>
          <a:solidFill>
            <a:srgbClr val="121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57200" y="6620256"/>
            <a:ext cx="11247120" cy="201168"/>
          </a:xfrm>
          <a:prstGeom prst="rect">
            <a:avLst/>
          </a:prstGeom>
          <a:noFill/>
        </p:spPr>
        <p:txBody>
          <a:bodyPr wrap="square">
            <a:spAutoFit/>
          </a:bodyPr>
          <a:lstStyle/>
          <a:p>
            <a:pPr algn="ctr"/>
            <a:r>
              <a:rPr sz="900" b="0" i="0">
                <a:solidFill>
                  <a:srgbClr val="788296"/>
                </a:solidFill>
                <a:latin typeface="Open Sans"/>
              </a:rPr>
              <a:t>PromptAnything.io  ·  BishopAI.com  ·  calendly.com/richmond  ·  Automation Nation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00814"/>
        </a:solidFill>
        <a:effectLst/>
      </p:bgPr>
    </p:bg>
    <p:spTree>
      <p:nvGrpSpPr>
        <p:cNvPr id="1" name=""/>
        <p:cNvGrpSpPr/>
        <p:nvPr/>
      </p:nvGrpSpPr>
      <p:grpSpPr/>
      <p:sp>
        <p:nvSpPr>
          <p:cNvPr id="2" name="TextBox 1"/>
          <p:cNvSpPr txBox="1"/>
          <p:nvPr/>
        </p:nvSpPr>
        <p:spPr>
          <a:xfrm>
            <a:off x="411480" y="164592"/>
            <a:ext cx="1005840" cy="347472"/>
          </a:xfrm>
          <a:prstGeom prst="rect">
            <a:avLst/>
          </a:prstGeom>
          <a:noFill/>
        </p:spPr>
        <p:txBody>
          <a:bodyPr wrap="square">
            <a:spAutoFit/>
          </a:bodyPr>
          <a:lstStyle/>
          <a:p>
            <a:pPr algn="l"/>
            <a:r>
              <a:rPr sz="1500" b="1" i="0">
                <a:solidFill>
                  <a:srgbClr val="FAFBFA"/>
                </a:solidFill>
                <a:latin typeface="Poppins"/>
              </a:rPr>
              <a:t>BISHOP</a:t>
            </a:r>
          </a:p>
        </p:txBody>
      </p:sp>
      <p:sp>
        <p:nvSpPr>
          <p:cNvPr id="3" name="TextBox 2"/>
          <p:cNvSpPr txBox="1"/>
          <p:nvPr/>
        </p:nvSpPr>
        <p:spPr>
          <a:xfrm>
            <a:off x="1371600" y="164592"/>
            <a:ext cx="457200" cy="347472"/>
          </a:xfrm>
          <a:prstGeom prst="rect">
            <a:avLst/>
          </a:prstGeom>
          <a:noFill/>
        </p:spPr>
        <p:txBody>
          <a:bodyPr wrap="square">
            <a:spAutoFit/>
          </a:bodyPr>
          <a:lstStyle/>
          <a:p>
            <a:pPr algn="l"/>
            <a:r>
              <a:rPr sz="1500" b="1" i="0">
                <a:solidFill>
                  <a:srgbClr val="E0B848"/>
                </a:solidFill>
                <a:latin typeface="Poppins"/>
              </a:rPr>
              <a:t>AI</a:t>
            </a:r>
          </a:p>
        </p:txBody>
      </p:sp>
      <p:sp>
        <p:nvSpPr>
          <p:cNvPr id="4" name="Rectangle 3"/>
          <p:cNvSpPr/>
          <p:nvPr/>
        </p:nvSpPr>
        <p:spPr>
          <a:xfrm>
            <a:off x="0" y="6601968"/>
            <a:ext cx="12191695" cy="256032"/>
          </a:xfrm>
          <a:prstGeom prst="rect">
            <a:avLst/>
          </a:prstGeom>
          <a:solidFill>
            <a:srgbClr val="121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620256"/>
            <a:ext cx="11247120" cy="201168"/>
          </a:xfrm>
          <a:prstGeom prst="rect">
            <a:avLst/>
          </a:prstGeom>
          <a:noFill/>
        </p:spPr>
        <p:txBody>
          <a:bodyPr wrap="square">
            <a:spAutoFit/>
          </a:bodyPr>
          <a:lstStyle/>
          <a:p>
            <a:pPr algn="ctr"/>
            <a:r>
              <a:rPr sz="900" b="0" i="0">
                <a:solidFill>
                  <a:srgbClr val="788296"/>
                </a:solidFill>
                <a:latin typeface="Open Sans"/>
              </a:rPr>
              <a:t>PromptAnything.io  ·  BishopAI.com  ·  calendly.com/richmond  ·  Automation Nation</a:t>
            </a:r>
          </a:p>
        </p:txBody>
      </p:sp>
      <p:sp>
        <p:nvSpPr>
          <p:cNvPr id="6" name="Rounded Rectangle 5"/>
          <p:cNvSpPr/>
          <p:nvPr/>
        </p:nvSpPr>
        <p:spPr>
          <a:xfrm>
            <a:off x="4971135" y="91440"/>
            <a:ext cx="109728" cy="109728"/>
          </a:xfrm>
          <a:prstGeom prst="roundRect">
            <a:avLst/>
          </a:prstGeom>
          <a:solidFill>
            <a:srgbClr val="788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135727" y="91440"/>
            <a:ext cx="109728" cy="109728"/>
          </a:xfrm>
          <a:prstGeom prst="roundRect">
            <a:avLst/>
          </a:prstGeom>
          <a:solidFill>
            <a:srgbClr val="788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300319" y="91440"/>
            <a:ext cx="109728" cy="109728"/>
          </a:xfrm>
          <a:prstGeom prst="roundRect">
            <a:avLst/>
          </a:prstGeom>
          <a:solidFill>
            <a:srgbClr val="788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464911" y="91440"/>
            <a:ext cx="109728" cy="109728"/>
          </a:xfrm>
          <a:prstGeom prst="roundRect">
            <a:avLst/>
          </a:prstGeom>
          <a:solidFill>
            <a:srgbClr val="788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629503" y="91440"/>
            <a:ext cx="109728" cy="109728"/>
          </a:xfrm>
          <a:prstGeom prst="roundRect">
            <a:avLst/>
          </a:prstGeom>
          <a:solidFill>
            <a:srgbClr val="788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5794095" y="91440"/>
            <a:ext cx="109728" cy="109728"/>
          </a:xfrm>
          <a:prstGeom prst="roundRect">
            <a:avLst/>
          </a:prstGeom>
          <a:solidFill>
            <a:srgbClr val="788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958687" y="91440"/>
            <a:ext cx="109728" cy="109728"/>
          </a:xfrm>
          <a:prstGeom prst="roundRect">
            <a:avLst/>
          </a:prstGeom>
          <a:solidFill>
            <a:srgbClr val="788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123279" y="91440"/>
            <a:ext cx="109728" cy="109728"/>
          </a:xfrm>
          <a:prstGeom prst="roundRect">
            <a:avLst/>
          </a:prstGeom>
          <a:solidFill>
            <a:srgbClr val="E0B8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287871" y="91440"/>
            <a:ext cx="109728" cy="109728"/>
          </a:xfrm>
          <a:prstGeom prst="roundRect">
            <a:avLst/>
          </a:prstGeom>
          <a:solidFill>
            <a:srgbClr val="788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452463" y="91440"/>
            <a:ext cx="109728" cy="109728"/>
          </a:xfrm>
          <a:prstGeom prst="roundRect">
            <a:avLst/>
          </a:prstGeom>
          <a:solidFill>
            <a:srgbClr val="788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617055" y="91440"/>
            <a:ext cx="109728" cy="109728"/>
          </a:xfrm>
          <a:prstGeom prst="roundRect">
            <a:avLst/>
          </a:prstGeom>
          <a:solidFill>
            <a:srgbClr val="788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781647" y="91440"/>
            <a:ext cx="109728" cy="109728"/>
          </a:xfrm>
          <a:prstGeom prst="roundRect">
            <a:avLst/>
          </a:prstGeom>
          <a:solidFill>
            <a:srgbClr val="788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946239" y="91440"/>
            <a:ext cx="109728" cy="109728"/>
          </a:xfrm>
          <a:prstGeom prst="roundRect">
            <a:avLst/>
          </a:prstGeom>
          <a:solidFill>
            <a:srgbClr val="788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7110831" y="91440"/>
            <a:ext cx="109728" cy="109728"/>
          </a:xfrm>
          <a:prstGeom prst="roundRect">
            <a:avLst/>
          </a:prstGeom>
          <a:solidFill>
            <a:srgbClr val="788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11480" y="685800"/>
            <a:ext cx="1408176" cy="292608"/>
          </a:xfrm>
          <a:prstGeom prst="roundRect">
            <a:avLst/>
          </a:prstGeom>
          <a:solidFill>
            <a:srgbClr val="E0B8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11480" y="704088"/>
            <a:ext cx="1408176" cy="256032"/>
          </a:xfrm>
          <a:prstGeom prst="rect">
            <a:avLst/>
          </a:prstGeom>
          <a:noFill/>
        </p:spPr>
        <p:txBody>
          <a:bodyPr wrap="square">
            <a:spAutoFit/>
          </a:bodyPr>
          <a:lstStyle/>
          <a:p>
            <a:pPr algn="ctr"/>
            <a:r>
              <a:rPr sz="1000" b="1" i="0">
                <a:solidFill>
                  <a:srgbClr val="FAFBFA"/>
                </a:solidFill>
                <a:latin typeface="Montserrat"/>
              </a:rPr>
              <a:t>BUILD 1 OF 3</a:t>
            </a:r>
          </a:p>
        </p:txBody>
      </p:sp>
      <p:sp>
        <p:nvSpPr>
          <p:cNvPr id="22" name="TextBox 21"/>
          <p:cNvSpPr txBox="1"/>
          <p:nvPr/>
        </p:nvSpPr>
        <p:spPr>
          <a:xfrm>
            <a:off x="411480" y="1078992"/>
            <a:ext cx="11338560" cy="777240"/>
          </a:xfrm>
          <a:prstGeom prst="rect">
            <a:avLst/>
          </a:prstGeom>
          <a:noFill/>
        </p:spPr>
        <p:txBody>
          <a:bodyPr wrap="square">
            <a:spAutoFit/>
          </a:bodyPr>
          <a:lstStyle/>
          <a:p>
            <a:pPr algn="l"/>
            <a:r>
              <a:rPr sz="2600" b="1" i="0">
                <a:solidFill>
                  <a:srgbClr val="FAFBFA"/>
                </a:solidFill>
                <a:latin typeface="Poppins"/>
              </a:rPr>
              <a:t>Post in your voice. Comment that opens doors.</a:t>
            </a:r>
          </a:p>
        </p:txBody>
      </p:sp>
      <p:sp>
        <p:nvSpPr>
          <p:cNvPr id="23" name="Rounded Rectangle 22"/>
          <p:cNvSpPr/>
          <p:nvPr/>
        </p:nvSpPr>
        <p:spPr>
          <a:xfrm>
            <a:off x="411480" y="1920240"/>
            <a:ext cx="11338560" cy="1097280"/>
          </a:xfrm>
          <a:prstGeom prst="roundRect">
            <a:avLst/>
          </a:prstGeom>
          <a:solidFill>
            <a:srgbClr val="121626"/>
          </a:solidFill>
          <a:ln w="6350">
            <a:solidFill>
              <a:srgbClr val="1064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594360" y="2148840"/>
            <a:ext cx="594360" cy="594360"/>
          </a:xfrm>
          <a:prstGeom prst="roundRect">
            <a:avLst/>
          </a:prstGeom>
          <a:solidFill>
            <a:srgbClr val="E0B8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94360" y="2148840"/>
            <a:ext cx="594360" cy="594360"/>
          </a:xfrm>
          <a:prstGeom prst="rect">
            <a:avLst/>
          </a:prstGeom>
          <a:noFill/>
        </p:spPr>
        <p:txBody>
          <a:bodyPr wrap="square">
            <a:spAutoFit/>
          </a:bodyPr>
          <a:lstStyle/>
          <a:p>
            <a:pPr algn="ctr"/>
            <a:r>
              <a:rPr sz="1600" b="1" i="0">
                <a:solidFill>
                  <a:srgbClr val="000814"/>
                </a:solidFill>
                <a:latin typeface="Poppins"/>
              </a:rPr>
              <a:t>✓</a:t>
            </a:r>
          </a:p>
        </p:txBody>
      </p:sp>
      <p:sp>
        <p:nvSpPr>
          <p:cNvPr id="26" name="TextBox 25"/>
          <p:cNvSpPr txBox="1"/>
          <p:nvPr/>
        </p:nvSpPr>
        <p:spPr>
          <a:xfrm>
            <a:off x="1371600" y="2121408"/>
            <a:ext cx="10241280" cy="685800"/>
          </a:xfrm>
          <a:prstGeom prst="rect">
            <a:avLst/>
          </a:prstGeom>
          <a:noFill/>
        </p:spPr>
        <p:txBody>
          <a:bodyPr wrap="square">
            <a:spAutoFit/>
          </a:bodyPr>
          <a:lstStyle/>
          <a:p>
            <a:pPr algn="l"/>
            <a:r>
              <a:rPr sz="1500" b="0" i="0">
                <a:solidFill>
                  <a:srgbClr val="FAFBFA"/>
                </a:solidFill>
                <a:latin typeface="Open Sans"/>
              </a:rPr>
              <a:t>LinkedIn post: real stat + clear POV + question the ICP wants to answer</a:t>
            </a:r>
          </a:p>
        </p:txBody>
      </p:sp>
      <p:sp>
        <p:nvSpPr>
          <p:cNvPr id="27" name="Rounded Rectangle 26"/>
          <p:cNvSpPr/>
          <p:nvPr/>
        </p:nvSpPr>
        <p:spPr>
          <a:xfrm>
            <a:off x="411480" y="3200400"/>
            <a:ext cx="11338560" cy="1097280"/>
          </a:xfrm>
          <a:prstGeom prst="roundRect">
            <a:avLst/>
          </a:prstGeom>
          <a:solidFill>
            <a:srgbClr val="121626"/>
          </a:solidFill>
          <a:ln w="6350">
            <a:solidFill>
              <a:srgbClr val="1064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594360" y="3429000"/>
            <a:ext cx="594360" cy="594360"/>
          </a:xfrm>
          <a:prstGeom prst="roundRect">
            <a:avLst/>
          </a:prstGeom>
          <a:solidFill>
            <a:srgbClr val="E0B8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94360" y="3429000"/>
            <a:ext cx="594360" cy="594360"/>
          </a:xfrm>
          <a:prstGeom prst="rect">
            <a:avLst/>
          </a:prstGeom>
          <a:noFill/>
        </p:spPr>
        <p:txBody>
          <a:bodyPr wrap="square">
            <a:spAutoFit/>
          </a:bodyPr>
          <a:lstStyle/>
          <a:p>
            <a:pPr algn="ctr"/>
            <a:r>
              <a:rPr sz="1600" b="1" i="0">
                <a:solidFill>
                  <a:srgbClr val="000814"/>
                </a:solidFill>
                <a:latin typeface="Poppins"/>
              </a:rPr>
              <a:t>✓</a:t>
            </a:r>
          </a:p>
        </p:txBody>
      </p:sp>
      <p:sp>
        <p:nvSpPr>
          <p:cNvPr id="30" name="TextBox 29"/>
          <p:cNvSpPr txBox="1"/>
          <p:nvPr/>
        </p:nvSpPr>
        <p:spPr>
          <a:xfrm>
            <a:off x="1371600" y="3401568"/>
            <a:ext cx="10241280" cy="685800"/>
          </a:xfrm>
          <a:prstGeom prst="rect">
            <a:avLst/>
          </a:prstGeom>
          <a:noFill/>
        </p:spPr>
        <p:txBody>
          <a:bodyPr wrap="square">
            <a:spAutoFit/>
          </a:bodyPr>
          <a:lstStyle/>
          <a:p>
            <a:pPr algn="l"/>
            <a:r>
              <a:rPr sz="1500" b="0" i="0">
                <a:solidFill>
                  <a:srgbClr val="FAFBFA"/>
                </a:solidFill>
                <a:latin typeface="Open Sans"/>
              </a:rPr>
              <a:t>Prospect comment: validates their post, adds field insight, creates curiosity — no pitch</a:t>
            </a:r>
          </a:p>
        </p:txBody>
      </p:sp>
      <p:sp>
        <p:nvSpPr>
          <p:cNvPr id="31" name="TextBox 30"/>
          <p:cNvSpPr txBox="1"/>
          <p:nvPr/>
        </p:nvSpPr>
        <p:spPr>
          <a:xfrm>
            <a:off x="411480" y="4572000"/>
            <a:ext cx="11338560" cy="347472"/>
          </a:xfrm>
          <a:prstGeom prst="rect">
            <a:avLst/>
          </a:prstGeom>
          <a:noFill/>
        </p:spPr>
        <p:txBody>
          <a:bodyPr wrap="square">
            <a:spAutoFit/>
          </a:bodyPr>
          <a:lstStyle/>
          <a:p>
            <a:pPr algn="l"/>
            <a:r>
              <a:rPr sz="1300" b="0" i="1">
                <a:solidFill>
                  <a:srgbClr val="E0B848"/>
                </a:solidFill>
                <a:latin typeface="Montserrat"/>
              </a:rPr>
              <a:t>→  That is how a LinkedIn comment becomes a warm first touch.</a:t>
            </a:r>
          </a:p>
        </p:txBody>
      </p:sp>
      <p:sp>
        <p:nvSpPr>
          <p:cNvPr id="32" name="Rounded Rectangle 31"/>
          <p:cNvSpPr/>
          <p:nvPr/>
        </p:nvSpPr>
        <p:spPr>
          <a:xfrm>
            <a:off x="411480" y="5001768"/>
            <a:ext cx="11338560" cy="1188720"/>
          </a:xfrm>
          <a:prstGeom prst="roundRect">
            <a:avLst/>
          </a:prstGeom>
          <a:solidFill>
            <a:srgbClr val="1E2333"/>
          </a:solidFill>
          <a:ln w="9525">
            <a:solidFill>
              <a:srgbClr val="E0B8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594360" y="5120640"/>
            <a:ext cx="1147572" cy="292608"/>
          </a:xfrm>
          <a:prstGeom prst="roundRect">
            <a:avLst/>
          </a:prstGeom>
          <a:solidFill>
            <a:srgbClr val="E0B8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94360" y="5138928"/>
            <a:ext cx="1147572" cy="256032"/>
          </a:xfrm>
          <a:prstGeom prst="rect">
            <a:avLst/>
          </a:prstGeom>
          <a:noFill/>
        </p:spPr>
        <p:txBody>
          <a:bodyPr wrap="square">
            <a:spAutoFit/>
          </a:bodyPr>
          <a:lstStyle/>
          <a:p>
            <a:pPr algn="ctr"/>
            <a:r>
              <a:rPr sz="1000" b="1" i="0">
                <a:solidFill>
                  <a:srgbClr val="000814"/>
                </a:solidFill>
                <a:latin typeface="Montserrat"/>
              </a:rPr>
              <a:t>YOUR TURN</a:t>
            </a:r>
          </a:p>
        </p:txBody>
      </p:sp>
      <p:sp>
        <p:nvSpPr>
          <p:cNvPr id="35" name="TextBox 34"/>
          <p:cNvSpPr txBox="1"/>
          <p:nvPr/>
        </p:nvSpPr>
        <p:spPr>
          <a:xfrm>
            <a:off x="594360" y="5468112"/>
            <a:ext cx="10972800" cy="594360"/>
          </a:xfrm>
          <a:prstGeom prst="rect">
            <a:avLst/>
          </a:prstGeom>
          <a:noFill/>
        </p:spPr>
        <p:txBody>
          <a:bodyPr wrap="square">
            <a:spAutoFit/>
          </a:bodyPr>
          <a:lstStyle/>
          <a:p>
            <a:pPr algn="l"/>
            <a:r>
              <a:rPr sz="1300" b="0" i="0">
                <a:solidFill>
                  <a:srgbClr val="C8CDD7"/>
                </a:solidFill>
                <a:latin typeface="Open Sans"/>
              </a:rPr>
              <a:t>Build yours: your name, product, voice. Find a real prospect post. Run the comment prompt. Drop your output in the chat.</a:t>
            </a:r>
          </a:p>
        </p:txBody>
      </p:sp>
      <p:sp>
        <p:nvSpPr>
          <p:cNvPr id="36" name="Rectangle 35"/>
          <p:cNvSpPr/>
          <p:nvPr/>
        </p:nvSpPr>
        <p:spPr>
          <a:xfrm>
            <a:off x="0" y="6601968"/>
            <a:ext cx="12191695" cy="256032"/>
          </a:xfrm>
          <a:prstGeom prst="rect">
            <a:avLst/>
          </a:prstGeom>
          <a:solidFill>
            <a:srgbClr val="121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57200" y="6620256"/>
            <a:ext cx="11247120" cy="201168"/>
          </a:xfrm>
          <a:prstGeom prst="rect">
            <a:avLst/>
          </a:prstGeom>
          <a:noFill/>
        </p:spPr>
        <p:txBody>
          <a:bodyPr wrap="square">
            <a:spAutoFit/>
          </a:bodyPr>
          <a:lstStyle/>
          <a:p>
            <a:pPr algn="ctr"/>
            <a:r>
              <a:rPr sz="900" b="0" i="0">
                <a:solidFill>
                  <a:srgbClr val="788296"/>
                </a:solidFill>
                <a:latin typeface="Open Sans"/>
              </a:rPr>
              <a:t>PromptAnything.io  ·  BishopAI.com  ·  calendly.com/richmond  ·  Automation Nation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00814"/>
        </a:solidFill>
        <a:effectLst/>
      </p:bgPr>
    </p:bg>
    <p:spTree>
      <p:nvGrpSpPr>
        <p:cNvPr id="1" name=""/>
        <p:cNvGrpSpPr/>
        <p:nvPr/>
      </p:nvGrpSpPr>
      <p:grpSpPr/>
      <p:sp>
        <p:nvSpPr>
          <p:cNvPr id="2" name="TextBox 1"/>
          <p:cNvSpPr txBox="1"/>
          <p:nvPr/>
        </p:nvSpPr>
        <p:spPr>
          <a:xfrm>
            <a:off x="411480" y="164592"/>
            <a:ext cx="1005840" cy="347472"/>
          </a:xfrm>
          <a:prstGeom prst="rect">
            <a:avLst/>
          </a:prstGeom>
          <a:noFill/>
        </p:spPr>
        <p:txBody>
          <a:bodyPr wrap="square">
            <a:spAutoFit/>
          </a:bodyPr>
          <a:lstStyle/>
          <a:p>
            <a:pPr algn="l"/>
            <a:r>
              <a:rPr sz="1500" b="1" i="0">
                <a:solidFill>
                  <a:srgbClr val="FAFBFA"/>
                </a:solidFill>
                <a:latin typeface="Poppins"/>
              </a:rPr>
              <a:t>BISHOP</a:t>
            </a:r>
          </a:p>
        </p:txBody>
      </p:sp>
      <p:sp>
        <p:nvSpPr>
          <p:cNvPr id="3" name="TextBox 2"/>
          <p:cNvSpPr txBox="1"/>
          <p:nvPr/>
        </p:nvSpPr>
        <p:spPr>
          <a:xfrm>
            <a:off x="1371600" y="164592"/>
            <a:ext cx="457200" cy="347472"/>
          </a:xfrm>
          <a:prstGeom prst="rect">
            <a:avLst/>
          </a:prstGeom>
          <a:noFill/>
        </p:spPr>
        <p:txBody>
          <a:bodyPr wrap="square">
            <a:spAutoFit/>
          </a:bodyPr>
          <a:lstStyle/>
          <a:p>
            <a:pPr algn="l"/>
            <a:r>
              <a:rPr sz="1500" b="1" i="0">
                <a:solidFill>
                  <a:srgbClr val="E0B848"/>
                </a:solidFill>
                <a:latin typeface="Poppins"/>
              </a:rPr>
              <a:t>AI</a:t>
            </a:r>
          </a:p>
        </p:txBody>
      </p:sp>
      <p:sp>
        <p:nvSpPr>
          <p:cNvPr id="4" name="Rectangle 3"/>
          <p:cNvSpPr/>
          <p:nvPr/>
        </p:nvSpPr>
        <p:spPr>
          <a:xfrm>
            <a:off x="0" y="6601968"/>
            <a:ext cx="12191695" cy="256032"/>
          </a:xfrm>
          <a:prstGeom prst="rect">
            <a:avLst/>
          </a:prstGeom>
          <a:solidFill>
            <a:srgbClr val="121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620256"/>
            <a:ext cx="11247120" cy="201168"/>
          </a:xfrm>
          <a:prstGeom prst="rect">
            <a:avLst/>
          </a:prstGeom>
          <a:noFill/>
        </p:spPr>
        <p:txBody>
          <a:bodyPr wrap="square">
            <a:spAutoFit/>
          </a:bodyPr>
          <a:lstStyle/>
          <a:p>
            <a:pPr algn="ctr"/>
            <a:r>
              <a:rPr sz="900" b="0" i="0">
                <a:solidFill>
                  <a:srgbClr val="788296"/>
                </a:solidFill>
                <a:latin typeface="Open Sans"/>
              </a:rPr>
              <a:t>PromptAnything.io  ·  BishopAI.com  ·  calendly.com/richmond  ·  Automation Nation</a:t>
            </a:r>
          </a:p>
        </p:txBody>
      </p:sp>
      <p:sp>
        <p:nvSpPr>
          <p:cNvPr id="6" name="Rounded Rectangle 5"/>
          <p:cNvSpPr/>
          <p:nvPr/>
        </p:nvSpPr>
        <p:spPr>
          <a:xfrm>
            <a:off x="4971135" y="91440"/>
            <a:ext cx="109728" cy="109728"/>
          </a:xfrm>
          <a:prstGeom prst="roundRect">
            <a:avLst/>
          </a:prstGeom>
          <a:solidFill>
            <a:srgbClr val="788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135727" y="91440"/>
            <a:ext cx="109728" cy="109728"/>
          </a:xfrm>
          <a:prstGeom prst="roundRect">
            <a:avLst/>
          </a:prstGeom>
          <a:solidFill>
            <a:srgbClr val="788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300319" y="91440"/>
            <a:ext cx="109728" cy="109728"/>
          </a:xfrm>
          <a:prstGeom prst="roundRect">
            <a:avLst/>
          </a:prstGeom>
          <a:solidFill>
            <a:srgbClr val="788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464911" y="91440"/>
            <a:ext cx="109728" cy="109728"/>
          </a:xfrm>
          <a:prstGeom prst="roundRect">
            <a:avLst/>
          </a:prstGeom>
          <a:solidFill>
            <a:srgbClr val="788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629503" y="91440"/>
            <a:ext cx="109728" cy="109728"/>
          </a:xfrm>
          <a:prstGeom prst="roundRect">
            <a:avLst/>
          </a:prstGeom>
          <a:solidFill>
            <a:srgbClr val="788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5794095" y="91440"/>
            <a:ext cx="109728" cy="109728"/>
          </a:xfrm>
          <a:prstGeom prst="roundRect">
            <a:avLst/>
          </a:prstGeom>
          <a:solidFill>
            <a:srgbClr val="788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958687" y="91440"/>
            <a:ext cx="109728" cy="109728"/>
          </a:xfrm>
          <a:prstGeom prst="roundRect">
            <a:avLst/>
          </a:prstGeom>
          <a:solidFill>
            <a:srgbClr val="788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123279" y="91440"/>
            <a:ext cx="109728" cy="109728"/>
          </a:xfrm>
          <a:prstGeom prst="roundRect">
            <a:avLst/>
          </a:prstGeom>
          <a:solidFill>
            <a:srgbClr val="788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287871" y="91440"/>
            <a:ext cx="109728" cy="109728"/>
          </a:xfrm>
          <a:prstGeom prst="roundRect">
            <a:avLst/>
          </a:prstGeom>
          <a:solidFill>
            <a:srgbClr val="E0B8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452463" y="91440"/>
            <a:ext cx="109728" cy="109728"/>
          </a:xfrm>
          <a:prstGeom prst="roundRect">
            <a:avLst/>
          </a:prstGeom>
          <a:solidFill>
            <a:srgbClr val="788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617055" y="91440"/>
            <a:ext cx="109728" cy="109728"/>
          </a:xfrm>
          <a:prstGeom prst="roundRect">
            <a:avLst/>
          </a:prstGeom>
          <a:solidFill>
            <a:srgbClr val="788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781647" y="91440"/>
            <a:ext cx="109728" cy="109728"/>
          </a:xfrm>
          <a:prstGeom prst="roundRect">
            <a:avLst/>
          </a:prstGeom>
          <a:solidFill>
            <a:srgbClr val="788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946239" y="91440"/>
            <a:ext cx="109728" cy="109728"/>
          </a:xfrm>
          <a:prstGeom prst="roundRect">
            <a:avLst/>
          </a:prstGeom>
          <a:solidFill>
            <a:srgbClr val="788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7110831" y="91440"/>
            <a:ext cx="109728" cy="109728"/>
          </a:xfrm>
          <a:prstGeom prst="roundRect">
            <a:avLst/>
          </a:prstGeom>
          <a:solidFill>
            <a:srgbClr val="788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11480" y="685800"/>
            <a:ext cx="1408176" cy="292608"/>
          </a:xfrm>
          <a:prstGeom prst="roundRect">
            <a:avLst/>
          </a:prstGeom>
          <a:solidFill>
            <a:srgbClr val="E0B8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11480" y="704088"/>
            <a:ext cx="1408176" cy="256032"/>
          </a:xfrm>
          <a:prstGeom prst="rect">
            <a:avLst/>
          </a:prstGeom>
          <a:noFill/>
        </p:spPr>
        <p:txBody>
          <a:bodyPr wrap="square">
            <a:spAutoFit/>
          </a:bodyPr>
          <a:lstStyle/>
          <a:p>
            <a:pPr algn="ctr"/>
            <a:r>
              <a:rPr sz="1000" b="1" i="0">
                <a:solidFill>
                  <a:srgbClr val="FAFBFA"/>
                </a:solidFill>
                <a:latin typeface="Montserrat"/>
              </a:rPr>
              <a:t>BUILD 2 OF 3</a:t>
            </a:r>
          </a:p>
        </p:txBody>
      </p:sp>
      <p:sp>
        <p:nvSpPr>
          <p:cNvPr id="22" name="TextBox 21"/>
          <p:cNvSpPr txBox="1"/>
          <p:nvPr/>
        </p:nvSpPr>
        <p:spPr>
          <a:xfrm>
            <a:off x="411480" y="1078992"/>
            <a:ext cx="11338560" cy="777240"/>
          </a:xfrm>
          <a:prstGeom prst="rect">
            <a:avLst/>
          </a:prstGeom>
          <a:noFill/>
        </p:spPr>
        <p:txBody>
          <a:bodyPr wrap="square">
            <a:spAutoFit/>
          </a:bodyPr>
          <a:lstStyle/>
          <a:p>
            <a:pPr algn="l"/>
            <a:r>
              <a:rPr sz="2600" b="1" i="0">
                <a:solidFill>
                  <a:srgbClr val="FAFBFA"/>
                </a:solidFill>
                <a:latin typeface="Poppins"/>
              </a:rPr>
              <a:t>Prompt 2: Google Email Hub</a:t>
            </a:r>
          </a:p>
        </p:txBody>
      </p:sp>
      <p:sp>
        <p:nvSpPr>
          <p:cNvPr id="23" name="Rounded Rectangle 22"/>
          <p:cNvSpPr/>
          <p:nvPr/>
        </p:nvSpPr>
        <p:spPr>
          <a:xfrm>
            <a:off x="411480" y="1938528"/>
            <a:ext cx="11338560" cy="457200"/>
          </a:xfrm>
          <a:prstGeom prst="roundRect">
            <a:avLst/>
          </a:prstGeom>
          <a:solidFill>
            <a:srgbClr val="1E2333"/>
          </a:solidFill>
          <a:ln w="6350">
            <a:solidFill>
              <a:srgbClr val="E0B8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94360" y="1984248"/>
            <a:ext cx="10972800" cy="347472"/>
          </a:xfrm>
          <a:prstGeom prst="rect">
            <a:avLst/>
          </a:prstGeom>
          <a:noFill/>
        </p:spPr>
        <p:txBody>
          <a:bodyPr wrap="square">
            <a:spAutoFit/>
          </a:bodyPr>
          <a:lstStyle/>
          <a:p>
            <a:pPr algn="l"/>
            <a:r>
              <a:rPr sz="1300" b="0" i="0">
                <a:solidFill>
                  <a:srgbClr val="C8CDD7"/>
                </a:solidFill>
                <a:latin typeface="Open Sans"/>
              </a:rPr>
              <a:t>⚡  Sales pros spend 21% of the day on email. Most of the inbox is noise hiding the signals that matter. (HubSpot, 2025)</a:t>
            </a:r>
          </a:p>
        </p:txBody>
      </p:sp>
      <p:sp>
        <p:nvSpPr>
          <p:cNvPr id="25" name="Rounded Rectangle 24"/>
          <p:cNvSpPr/>
          <p:nvPr/>
        </p:nvSpPr>
        <p:spPr>
          <a:xfrm>
            <a:off x="411480" y="2542032"/>
            <a:ext cx="11338560" cy="384048"/>
          </a:xfrm>
          <a:prstGeom prst="roundRect">
            <a:avLst/>
          </a:prstGeom>
          <a:solidFill>
            <a:srgbClr val="282D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11480" y="2834640"/>
            <a:ext cx="11338560" cy="73152"/>
          </a:xfrm>
          <a:prstGeom prst="rect">
            <a:avLst/>
          </a:prstGeom>
          <a:solidFill>
            <a:srgbClr val="282D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621792" y="2651760"/>
            <a:ext cx="164592" cy="164592"/>
          </a:xfrm>
          <a:prstGeom prst="roundRect">
            <a:avLst/>
          </a:prstGeom>
          <a:solidFill>
            <a:srgbClr val="FF5A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877824" y="2651760"/>
            <a:ext cx="164592" cy="164592"/>
          </a:xfrm>
          <a:prstGeom prst="roundRect">
            <a:avLst/>
          </a:prstGeom>
          <a:solidFill>
            <a:srgbClr val="FFBE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1133856" y="2651760"/>
            <a:ext cx="164592" cy="164592"/>
          </a:xfrm>
          <a:prstGeom prst="roundRect">
            <a:avLst/>
          </a:prstGeom>
          <a:solidFill>
            <a:srgbClr val="50C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371600" y="2606040"/>
            <a:ext cx="5486400" cy="274320"/>
          </a:xfrm>
          <a:prstGeom prst="rect">
            <a:avLst/>
          </a:prstGeom>
          <a:noFill/>
        </p:spPr>
        <p:txBody>
          <a:bodyPr wrap="square">
            <a:spAutoFit/>
          </a:bodyPr>
          <a:lstStyle/>
          <a:p>
            <a:pPr algn="l"/>
            <a:r>
              <a:rPr sz="1100" b="0" i="0">
                <a:solidFill>
                  <a:srgbClr val="788296"/>
                </a:solidFill>
                <a:latin typeface="Courier New"/>
              </a:rPr>
              <a:t>rough_prompt.txt</a:t>
            </a:r>
          </a:p>
        </p:txBody>
      </p:sp>
      <p:sp>
        <p:nvSpPr>
          <p:cNvPr id="31" name="Rounded Rectangle 30"/>
          <p:cNvSpPr/>
          <p:nvPr/>
        </p:nvSpPr>
        <p:spPr>
          <a:xfrm>
            <a:off x="9601200" y="2633472"/>
            <a:ext cx="1408176" cy="292608"/>
          </a:xfrm>
          <a:prstGeom prst="roundRect">
            <a:avLst/>
          </a:prstGeom>
          <a:solidFill>
            <a:srgbClr val="E0B8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601200" y="2651760"/>
            <a:ext cx="1408176" cy="256032"/>
          </a:xfrm>
          <a:prstGeom prst="rect">
            <a:avLst/>
          </a:prstGeom>
          <a:noFill/>
        </p:spPr>
        <p:txBody>
          <a:bodyPr wrap="square">
            <a:spAutoFit/>
          </a:bodyPr>
          <a:lstStyle/>
          <a:p>
            <a:pPr algn="ctr"/>
            <a:r>
              <a:rPr sz="900" b="1" i="0">
                <a:solidFill>
                  <a:srgbClr val="000814"/>
                </a:solidFill>
                <a:latin typeface="Montserrat"/>
              </a:rPr>
              <a:t>ROUGH PROMPT</a:t>
            </a:r>
          </a:p>
        </p:txBody>
      </p:sp>
      <p:sp>
        <p:nvSpPr>
          <p:cNvPr id="33" name="Rounded Rectangle 32"/>
          <p:cNvSpPr/>
          <p:nvPr/>
        </p:nvSpPr>
        <p:spPr>
          <a:xfrm>
            <a:off x="411480" y="2907792"/>
            <a:ext cx="11338560" cy="2743200"/>
          </a:xfrm>
          <a:prstGeom prst="roundRect">
            <a:avLst/>
          </a:prstGeom>
          <a:solidFill>
            <a:srgbClr val="0C1020"/>
          </a:solidFill>
          <a:ln w="6350">
            <a:solidFill>
              <a:srgbClr val="2832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411480" y="2907792"/>
            <a:ext cx="11338560" cy="137160"/>
          </a:xfrm>
          <a:prstGeom prst="rect">
            <a:avLst/>
          </a:prstGeom>
          <a:solidFill>
            <a:srgbClr val="0C1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58368" y="2999232"/>
            <a:ext cx="10881360" cy="2514600"/>
          </a:xfrm>
          <a:prstGeom prst="rect">
            <a:avLst/>
          </a:prstGeom>
          <a:noFill/>
        </p:spPr>
        <p:txBody>
          <a:bodyPr wrap="square">
            <a:spAutoFit/>
          </a:bodyPr>
          <a:lstStyle/>
          <a:p>
            <a:r>
              <a:rPr sz="1300">
                <a:solidFill>
                  <a:srgbClr val="B4DCB4"/>
                </a:solidFill>
                <a:latin typeface="Courier New"/>
              </a:rPr>
              <a:t>I want Claude to scan my Gmail inbox every morning and give me a daily briefing.
Tell me which emails need my attention today,
flag anything from clients or active deals,
surface calendar issues, and help me filter the noise
so I'm not starting my day reactively.</a:t>
            </a:r>
          </a:p>
        </p:txBody>
      </p:sp>
      <p:sp>
        <p:nvSpPr>
          <p:cNvPr id="36" name="Rounded Rectangle 35"/>
          <p:cNvSpPr/>
          <p:nvPr/>
        </p:nvSpPr>
        <p:spPr>
          <a:xfrm>
            <a:off x="411480" y="5806440"/>
            <a:ext cx="11338560" cy="384048"/>
          </a:xfrm>
          <a:prstGeom prst="round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94360" y="5852160"/>
            <a:ext cx="10972800" cy="320040"/>
          </a:xfrm>
          <a:prstGeom prst="rect">
            <a:avLst/>
          </a:prstGeom>
          <a:noFill/>
        </p:spPr>
        <p:txBody>
          <a:bodyPr wrap="square">
            <a:spAutoFit/>
          </a:bodyPr>
          <a:lstStyle/>
          <a:p>
            <a:pPr algn="ctr"/>
            <a:r>
              <a:rPr sz="1200" b="0" i="0">
                <a:solidFill>
                  <a:srgbClr val="1894C9"/>
                </a:solidFill>
                <a:latin typeface="Montserrat"/>
              </a:rPr>
              <a:t>Paste into PromptAnything  →  Agent  →  Review questions  →  Refine  →  Generate  →  Push to Claude Project</a:t>
            </a:r>
          </a:p>
        </p:txBody>
      </p:sp>
      <p:sp>
        <p:nvSpPr>
          <p:cNvPr id="38" name="Rectangle 37"/>
          <p:cNvSpPr/>
          <p:nvPr/>
        </p:nvSpPr>
        <p:spPr>
          <a:xfrm>
            <a:off x="0" y="6601968"/>
            <a:ext cx="12191695" cy="256032"/>
          </a:xfrm>
          <a:prstGeom prst="rect">
            <a:avLst/>
          </a:prstGeom>
          <a:solidFill>
            <a:srgbClr val="121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57200" y="6620256"/>
            <a:ext cx="11247120" cy="201168"/>
          </a:xfrm>
          <a:prstGeom prst="rect">
            <a:avLst/>
          </a:prstGeom>
          <a:noFill/>
        </p:spPr>
        <p:txBody>
          <a:bodyPr wrap="square">
            <a:spAutoFit/>
          </a:bodyPr>
          <a:lstStyle/>
          <a:p>
            <a:pPr algn="ctr"/>
            <a:r>
              <a:rPr sz="900" b="0" i="0">
                <a:solidFill>
                  <a:srgbClr val="788296"/>
                </a:solidFill>
                <a:latin typeface="Open Sans"/>
              </a:rPr>
              <a:t>PromptAnything.io  ·  BishopAI.com  ·  calendly.com/richmond  ·  Automation Nation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00814"/>
        </a:solidFill>
        <a:effectLst/>
      </p:bgPr>
    </p:bg>
    <p:spTree>
      <p:nvGrpSpPr>
        <p:cNvPr id="1" name=""/>
        <p:cNvGrpSpPr/>
        <p:nvPr/>
      </p:nvGrpSpPr>
      <p:grpSpPr/>
      <p:sp>
        <p:nvSpPr>
          <p:cNvPr id="2" name="TextBox 1"/>
          <p:cNvSpPr txBox="1"/>
          <p:nvPr/>
        </p:nvSpPr>
        <p:spPr>
          <a:xfrm>
            <a:off x="411480" y="164592"/>
            <a:ext cx="1005840" cy="347472"/>
          </a:xfrm>
          <a:prstGeom prst="rect">
            <a:avLst/>
          </a:prstGeom>
          <a:noFill/>
        </p:spPr>
        <p:txBody>
          <a:bodyPr wrap="square">
            <a:spAutoFit/>
          </a:bodyPr>
          <a:lstStyle/>
          <a:p>
            <a:pPr algn="l"/>
            <a:r>
              <a:rPr sz="1500" b="1" i="0">
                <a:solidFill>
                  <a:srgbClr val="FAFBFA"/>
                </a:solidFill>
                <a:latin typeface="Poppins"/>
              </a:rPr>
              <a:t>BISHOP</a:t>
            </a:r>
          </a:p>
        </p:txBody>
      </p:sp>
      <p:sp>
        <p:nvSpPr>
          <p:cNvPr id="3" name="TextBox 2"/>
          <p:cNvSpPr txBox="1"/>
          <p:nvPr/>
        </p:nvSpPr>
        <p:spPr>
          <a:xfrm>
            <a:off x="1371600" y="164592"/>
            <a:ext cx="457200" cy="347472"/>
          </a:xfrm>
          <a:prstGeom prst="rect">
            <a:avLst/>
          </a:prstGeom>
          <a:noFill/>
        </p:spPr>
        <p:txBody>
          <a:bodyPr wrap="square">
            <a:spAutoFit/>
          </a:bodyPr>
          <a:lstStyle/>
          <a:p>
            <a:pPr algn="l"/>
            <a:r>
              <a:rPr sz="1500" b="1" i="0">
                <a:solidFill>
                  <a:srgbClr val="E0B848"/>
                </a:solidFill>
                <a:latin typeface="Poppins"/>
              </a:rPr>
              <a:t>AI</a:t>
            </a:r>
          </a:p>
        </p:txBody>
      </p:sp>
      <p:sp>
        <p:nvSpPr>
          <p:cNvPr id="4" name="Rectangle 3"/>
          <p:cNvSpPr/>
          <p:nvPr/>
        </p:nvSpPr>
        <p:spPr>
          <a:xfrm>
            <a:off x="0" y="6601968"/>
            <a:ext cx="12191695" cy="256032"/>
          </a:xfrm>
          <a:prstGeom prst="rect">
            <a:avLst/>
          </a:prstGeom>
          <a:solidFill>
            <a:srgbClr val="121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620256"/>
            <a:ext cx="11247120" cy="201168"/>
          </a:xfrm>
          <a:prstGeom prst="rect">
            <a:avLst/>
          </a:prstGeom>
          <a:noFill/>
        </p:spPr>
        <p:txBody>
          <a:bodyPr wrap="square">
            <a:spAutoFit/>
          </a:bodyPr>
          <a:lstStyle/>
          <a:p>
            <a:pPr algn="ctr"/>
            <a:r>
              <a:rPr sz="900" b="0" i="0">
                <a:solidFill>
                  <a:srgbClr val="788296"/>
                </a:solidFill>
                <a:latin typeface="Open Sans"/>
              </a:rPr>
              <a:t>PromptAnything.io  ·  BishopAI.com  ·  calendly.com/richmond  ·  Automation Nation</a:t>
            </a:r>
          </a:p>
        </p:txBody>
      </p:sp>
      <p:sp>
        <p:nvSpPr>
          <p:cNvPr id="6" name="Rounded Rectangle 5"/>
          <p:cNvSpPr/>
          <p:nvPr/>
        </p:nvSpPr>
        <p:spPr>
          <a:xfrm>
            <a:off x="4971135" y="91440"/>
            <a:ext cx="109728" cy="109728"/>
          </a:xfrm>
          <a:prstGeom prst="roundRect">
            <a:avLst/>
          </a:prstGeom>
          <a:solidFill>
            <a:srgbClr val="788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135727" y="91440"/>
            <a:ext cx="109728" cy="109728"/>
          </a:xfrm>
          <a:prstGeom prst="roundRect">
            <a:avLst/>
          </a:prstGeom>
          <a:solidFill>
            <a:srgbClr val="788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300319" y="91440"/>
            <a:ext cx="109728" cy="109728"/>
          </a:xfrm>
          <a:prstGeom prst="roundRect">
            <a:avLst/>
          </a:prstGeom>
          <a:solidFill>
            <a:srgbClr val="788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464911" y="91440"/>
            <a:ext cx="109728" cy="109728"/>
          </a:xfrm>
          <a:prstGeom prst="roundRect">
            <a:avLst/>
          </a:prstGeom>
          <a:solidFill>
            <a:srgbClr val="788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629503" y="91440"/>
            <a:ext cx="109728" cy="109728"/>
          </a:xfrm>
          <a:prstGeom prst="roundRect">
            <a:avLst/>
          </a:prstGeom>
          <a:solidFill>
            <a:srgbClr val="788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5794095" y="91440"/>
            <a:ext cx="109728" cy="109728"/>
          </a:xfrm>
          <a:prstGeom prst="roundRect">
            <a:avLst/>
          </a:prstGeom>
          <a:solidFill>
            <a:srgbClr val="788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958687" y="91440"/>
            <a:ext cx="109728" cy="109728"/>
          </a:xfrm>
          <a:prstGeom prst="roundRect">
            <a:avLst/>
          </a:prstGeom>
          <a:solidFill>
            <a:srgbClr val="788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123279" y="91440"/>
            <a:ext cx="109728" cy="109728"/>
          </a:xfrm>
          <a:prstGeom prst="roundRect">
            <a:avLst/>
          </a:prstGeom>
          <a:solidFill>
            <a:srgbClr val="788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287871" y="91440"/>
            <a:ext cx="109728" cy="109728"/>
          </a:xfrm>
          <a:prstGeom prst="roundRect">
            <a:avLst/>
          </a:prstGeom>
          <a:solidFill>
            <a:srgbClr val="788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452463" y="91440"/>
            <a:ext cx="109728" cy="109728"/>
          </a:xfrm>
          <a:prstGeom prst="roundRect">
            <a:avLst/>
          </a:prstGeom>
          <a:solidFill>
            <a:srgbClr val="E0B8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617055" y="91440"/>
            <a:ext cx="109728" cy="109728"/>
          </a:xfrm>
          <a:prstGeom prst="roundRect">
            <a:avLst/>
          </a:prstGeom>
          <a:solidFill>
            <a:srgbClr val="788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781647" y="91440"/>
            <a:ext cx="109728" cy="109728"/>
          </a:xfrm>
          <a:prstGeom prst="roundRect">
            <a:avLst/>
          </a:prstGeom>
          <a:solidFill>
            <a:srgbClr val="788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946239" y="91440"/>
            <a:ext cx="109728" cy="109728"/>
          </a:xfrm>
          <a:prstGeom prst="roundRect">
            <a:avLst/>
          </a:prstGeom>
          <a:solidFill>
            <a:srgbClr val="788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7110831" y="91440"/>
            <a:ext cx="109728" cy="109728"/>
          </a:xfrm>
          <a:prstGeom prst="roundRect">
            <a:avLst/>
          </a:prstGeom>
          <a:solidFill>
            <a:srgbClr val="788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11480" y="685800"/>
            <a:ext cx="1408176" cy="292608"/>
          </a:xfrm>
          <a:prstGeom prst="roundRect">
            <a:avLst/>
          </a:prstGeom>
          <a:solidFill>
            <a:srgbClr val="E0B8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11480" y="704088"/>
            <a:ext cx="1408176" cy="256032"/>
          </a:xfrm>
          <a:prstGeom prst="rect">
            <a:avLst/>
          </a:prstGeom>
          <a:noFill/>
        </p:spPr>
        <p:txBody>
          <a:bodyPr wrap="square">
            <a:spAutoFit/>
          </a:bodyPr>
          <a:lstStyle/>
          <a:p>
            <a:pPr algn="ctr"/>
            <a:r>
              <a:rPr sz="1000" b="1" i="0">
                <a:solidFill>
                  <a:srgbClr val="FAFBFA"/>
                </a:solidFill>
                <a:latin typeface="Montserrat"/>
              </a:rPr>
              <a:t>BUILD 2 OF 3</a:t>
            </a:r>
          </a:p>
        </p:txBody>
      </p:sp>
      <p:sp>
        <p:nvSpPr>
          <p:cNvPr id="22" name="TextBox 21"/>
          <p:cNvSpPr txBox="1"/>
          <p:nvPr/>
        </p:nvSpPr>
        <p:spPr>
          <a:xfrm>
            <a:off x="411480" y="1078992"/>
            <a:ext cx="11338560" cy="777240"/>
          </a:xfrm>
          <a:prstGeom prst="rect">
            <a:avLst/>
          </a:prstGeom>
          <a:noFill/>
        </p:spPr>
        <p:txBody>
          <a:bodyPr wrap="square">
            <a:spAutoFit/>
          </a:bodyPr>
          <a:lstStyle/>
          <a:p>
            <a:pPr algn="l"/>
            <a:r>
              <a:rPr sz="2600" b="1" i="0">
                <a:solidFill>
                  <a:srgbClr val="FAFBFA"/>
                </a:solidFill>
                <a:latin typeface="Poppins"/>
              </a:rPr>
              <a:t>Your inbox tells you what matters before you open it.</a:t>
            </a:r>
          </a:p>
        </p:txBody>
      </p:sp>
      <p:sp>
        <p:nvSpPr>
          <p:cNvPr id="23" name="Rounded Rectangle 22"/>
          <p:cNvSpPr/>
          <p:nvPr/>
        </p:nvSpPr>
        <p:spPr>
          <a:xfrm>
            <a:off x="411480" y="1920240"/>
            <a:ext cx="11338560" cy="1097280"/>
          </a:xfrm>
          <a:prstGeom prst="roundRect">
            <a:avLst/>
          </a:prstGeom>
          <a:solidFill>
            <a:srgbClr val="121626"/>
          </a:solidFill>
          <a:ln w="6350">
            <a:solidFill>
              <a:srgbClr val="1064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594360" y="2148840"/>
            <a:ext cx="594360" cy="594360"/>
          </a:xfrm>
          <a:prstGeom prst="roundRect">
            <a:avLst/>
          </a:prstGeom>
          <a:solidFill>
            <a:srgbClr val="E0B8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94360" y="2148840"/>
            <a:ext cx="594360" cy="594360"/>
          </a:xfrm>
          <a:prstGeom prst="rect">
            <a:avLst/>
          </a:prstGeom>
          <a:noFill/>
        </p:spPr>
        <p:txBody>
          <a:bodyPr wrap="square">
            <a:spAutoFit/>
          </a:bodyPr>
          <a:lstStyle/>
          <a:p>
            <a:pPr algn="ctr"/>
            <a:r>
              <a:rPr sz="1600" b="1" i="0">
                <a:solidFill>
                  <a:srgbClr val="000814"/>
                </a:solidFill>
                <a:latin typeface="Poppins"/>
              </a:rPr>
              <a:t>✓</a:t>
            </a:r>
          </a:p>
        </p:txBody>
      </p:sp>
      <p:sp>
        <p:nvSpPr>
          <p:cNvPr id="26" name="TextBox 25"/>
          <p:cNvSpPr txBox="1"/>
          <p:nvPr/>
        </p:nvSpPr>
        <p:spPr>
          <a:xfrm>
            <a:off x="1371600" y="2121408"/>
            <a:ext cx="10241280" cy="685800"/>
          </a:xfrm>
          <a:prstGeom prst="rect">
            <a:avLst/>
          </a:prstGeom>
          <a:noFill/>
        </p:spPr>
        <p:txBody>
          <a:bodyPr wrap="square">
            <a:spAutoFit/>
          </a:bodyPr>
          <a:lstStyle/>
          <a:p>
            <a:pPr algn="l"/>
            <a:r>
              <a:rPr sz="1500" b="0" i="0">
                <a:solidFill>
                  <a:srgbClr val="FAFBFA"/>
                </a:solidFill>
                <a:latin typeface="Open Sans"/>
              </a:rPr>
              <a:t>Action Required: emails needing reply or task — summary + suggested action</a:t>
            </a:r>
          </a:p>
        </p:txBody>
      </p:sp>
      <p:sp>
        <p:nvSpPr>
          <p:cNvPr id="27" name="Rounded Rectangle 26"/>
          <p:cNvSpPr/>
          <p:nvPr/>
        </p:nvSpPr>
        <p:spPr>
          <a:xfrm>
            <a:off x="411480" y="3200400"/>
            <a:ext cx="11338560" cy="1097280"/>
          </a:xfrm>
          <a:prstGeom prst="roundRect">
            <a:avLst/>
          </a:prstGeom>
          <a:solidFill>
            <a:srgbClr val="121626"/>
          </a:solidFill>
          <a:ln w="6350">
            <a:solidFill>
              <a:srgbClr val="1064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594360" y="3429000"/>
            <a:ext cx="594360" cy="594360"/>
          </a:xfrm>
          <a:prstGeom prst="roundRect">
            <a:avLst/>
          </a:prstGeom>
          <a:solidFill>
            <a:srgbClr val="E0B8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94360" y="3429000"/>
            <a:ext cx="594360" cy="594360"/>
          </a:xfrm>
          <a:prstGeom prst="rect">
            <a:avLst/>
          </a:prstGeom>
          <a:noFill/>
        </p:spPr>
        <p:txBody>
          <a:bodyPr wrap="square">
            <a:spAutoFit/>
          </a:bodyPr>
          <a:lstStyle/>
          <a:p>
            <a:pPr algn="ctr"/>
            <a:r>
              <a:rPr sz="1600" b="1" i="0">
                <a:solidFill>
                  <a:srgbClr val="000814"/>
                </a:solidFill>
                <a:latin typeface="Poppins"/>
              </a:rPr>
              <a:t>✓</a:t>
            </a:r>
          </a:p>
        </p:txBody>
      </p:sp>
      <p:sp>
        <p:nvSpPr>
          <p:cNvPr id="30" name="TextBox 29"/>
          <p:cNvSpPr txBox="1"/>
          <p:nvPr/>
        </p:nvSpPr>
        <p:spPr>
          <a:xfrm>
            <a:off x="1371600" y="3401568"/>
            <a:ext cx="10241280" cy="685800"/>
          </a:xfrm>
          <a:prstGeom prst="rect">
            <a:avLst/>
          </a:prstGeom>
          <a:noFill/>
        </p:spPr>
        <p:txBody>
          <a:bodyPr wrap="square">
            <a:spAutoFit/>
          </a:bodyPr>
          <a:lstStyle/>
          <a:p>
            <a:pPr algn="l"/>
            <a:r>
              <a:rPr sz="1500" b="0" i="0">
                <a:solidFill>
                  <a:srgbClr val="FAFBFA"/>
                </a:solidFill>
                <a:latin typeface="Open Sans"/>
              </a:rPr>
              <a:t>FYI Only: worth knowing, nothing required from you</a:t>
            </a:r>
          </a:p>
        </p:txBody>
      </p:sp>
      <p:sp>
        <p:nvSpPr>
          <p:cNvPr id="31" name="Rounded Rectangle 30"/>
          <p:cNvSpPr/>
          <p:nvPr/>
        </p:nvSpPr>
        <p:spPr>
          <a:xfrm>
            <a:off x="411480" y="4480560"/>
            <a:ext cx="11338560" cy="1097280"/>
          </a:xfrm>
          <a:prstGeom prst="roundRect">
            <a:avLst/>
          </a:prstGeom>
          <a:solidFill>
            <a:srgbClr val="121626"/>
          </a:solidFill>
          <a:ln w="6350">
            <a:solidFill>
              <a:srgbClr val="1064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594360" y="4709160"/>
            <a:ext cx="594360" cy="594360"/>
          </a:xfrm>
          <a:prstGeom prst="roundRect">
            <a:avLst/>
          </a:prstGeom>
          <a:solidFill>
            <a:srgbClr val="E0B8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94360" y="4709160"/>
            <a:ext cx="594360" cy="594360"/>
          </a:xfrm>
          <a:prstGeom prst="rect">
            <a:avLst/>
          </a:prstGeom>
          <a:noFill/>
        </p:spPr>
        <p:txBody>
          <a:bodyPr wrap="square">
            <a:spAutoFit/>
          </a:bodyPr>
          <a:lstStyle/>
          <a:p>
            <a:pPr algn="ctr"/>
            <a:r>
              <a:rPr sz="1600" b="1" i="0">
                <a:solidFill>
                  <a:srgbClr val="000814"/>
                </a:solidFill>
                <a:latin typeface="Poppins"/>
              </a:rPr>
              <a:t>✓</a:t>
            </a:r>
          </a:p>
        </p:txBody>
      </p:sp>
      <p:sp>
        <p:nvSpPr>
          <p:cNvPr id="34" name="TextBox 33"/>
          <p:cNvSpPr txBox="1"/>
          <p:nvPr/>
        </p:nvSpPr>
        <p:spPr>
          <a:xfrm>
            <a:off x="1371600" y="4681728"/>
            <a:ext cx="10241280" cy="685800"/>
          </a:xfrm>
          <a:prstGeom prst="rect">
            <a:avLst/>
          </a:prstGeom>
          <a:noFill/>
        </p:spPr>
        <p:txBody>
          <a:bodyPr wrap="square">
            <a:spAutoFit/>
          </a:bodyPr>
          <a:lstStyle/>
          <a:p>
            <a:pPr algn="l"/>
            <a:r>
              <a:rPr sz="1500" b="0" i="0">
                <a:solidFill>
                  <a:srgbClr val="FAFBFA"/>
                </a:solidFill>
                <a:latin typeface="Open Sans"/>
              </a:rPr>
              <a:t>Calendar Flags: conflicts, missing agendas, meetings that need prep</a:t>
            </a:r>
          </a:p>
        </p:txBody>
      </p:sp>
      <p:sp>
        <p:nvSpPr>
          <p:cNvPr id="35" name="TextBox 34"/>
          <p:cNvSpPr txBox="1"/>
          <p:nvPr/>
        </p:nvSpPr>
        <p:spPr>
          <a:xfrm>
            <a:off x="411480" y="5852160"/>
            <a:ext cx="11338560" cy="347472"/>
          </a:xfrm>
          <a:prstGeom prst="rect">
            <a:avLst/>
          </a:prstGeom>
          <a:noFill/>
        </p:spPr>
        <p:txBody>
          <a:bodyPr wrap="square">
            <a:spAutoFit/>
          </a:bodyPr>
          <a:lstStyle/>
          <a:p>
            <a:pPr algn="l"/>
            <a:r>
              <a:rPr sz="1300" b="0" i="1">
                <a:solidFill>
                  <a:srgbClr val="E0B848"/>
                </a:solidFill>
                <a:latin typeface="Montserrat"/>
              </a:rPr>
              <a:t>→  The difference between starting your day on offense vs. defense is usually just this clarity.</a:t>
            </a:r>
          </a:p>
        </p:txBody>
      </p:sp>
      <p:sp>
        <p:nvSpPr>
          <p:cNvPr id="36" name="Rounded Rectangle 35"/>
          <p:cNvSpPr/>
          <p:nvPr/>
        </p:nvSpPr>
        <p:spPr>
          <a:xfrm>
            <a:off x="411480" y="6281928"/>
            <a:ext cx="11338560" cy="1188720"/>
          </a:xfrm>
          <a:prstGeom prst="roundRect">
            <a:avLst/>
          </a:prstGeom>
          <a:solidFill>
            <a:srgbClr val="1E2333"/>
          </a:solidFill>
          <a:ln w="9525">
            <a:solidFill>
              <a:srgbClr val="E0B8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594360" y="6400800"/>
            <a:ext cx="1147572" cy="292608"/>
          </a:xfrm>
          <a:prstGeom prst="roundRect">
            <a:avLst/>
          </a:prstGeom>
          <a:solidFill>
            <a:srgbClr val="E0B8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94360" y="6419088"/>
            <a:ext cx="1147572" cy="256032"/>
          </a:xfrm>
          <a:prstGeom prst="rect">
            <a:avLst/>
          </a:prstGeom>
          <a:noFill/>
        </p:spPr>
        <p:txBody>
          <a:bodyPr wrap="square">
            <a:spAutoFit/>
          </a:bodyPr>
          <a:lstStyle/>
          <a:p>
            <a:pPr algn="ctr"/>
            <a:r>
              <a:rPr sz="1000" b="1" i="0">
                <a:solidFill>
                  <a:srgbClr val="000814"/>
                </a:solidFill>
                <a:latin typeface="Montserrat"/>
              </a:rPr>
              <a:t>YOUR TURN</a:t>
            </a:r>
          </a:p>
        </p:txBody>
      </p:sp>
      <p:sp>
        <p:nvSpPr>
          <p:cNvPr id="39" name="TextBox 38"/>
          <p:cNvSpPr txBox="1"/>
          <p:nvPr/>
        </p:nvSpPr>
        <p:spPr>
          <a:xfrm>
            <a:off x="594360" y="6748272"/>
            <a:ext cx="10972800" cy="594360"/>
          </a:xfrm>
          <a:prstGeom prst="rect">
            <a:avLst/>
          </a:prstGeom>
          <a:noFill/>
        </p:spPr>
        <p:txBody>
          <a:bodyPr wrap="square">
            <a:spAutoFit/>
          </a:bodyPr>
          <a:lstStyle/>
          <a:p>
            <a:pPr algn="l"/>
            <a:r>
              <a:rPr sz="1300" b="0" i="0">
                <a:solidFill>
                  <a:srgbClr val="C8CDD7"/>
                </a:solidFill>
                <a:latin typeface="Open Sans"/>
              </a:rPr>
              <a:t>Connect Gmail in Claude. Customize priority senders for your actual clients. Run the briefing. Drop in chat: how many flagged as Action Required?</a:t>
            </a:r>
          </a:p>
        </p:txBody>
      </p:sp>
      <p:sp>
        <p:nvSpPr>
          <p:cNvPr id="40" name="Rectangle 39"/>
          <p:cNvSpPr/>
          <p:nvPr/>
        </p:nvSpPr>
        <p:spPr>
          <a:xfrm>
            <a:off x="0" y="6601968"/>
            <a:ext cx="12191695" cy="256032"/>
          </a:xfrm>
          <a:prstGeom prst="rect">
            <a:avLst/>
          </a:prstGeom>
          <a:solidFill>
            <a:srgbClr val="121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57200" y="6620256"/>
            <a:ext cx="11247120" cy="201168"/>
          </a:xfrm>
          <a:prstGeom prst="rect">
            <a:avLst/>
          </a:prstGeom>
          <a:noFill/>
        </p:spPr>
        <p:txBody>
          <a:bodyPr wrap="square">
            <a:spAutoFit/>
          </a:bodyPr>
          <a:lstStyle/>
          <a:p>
            <a:pPr algn="ctr"/>
            <a:r>
              <a:rPr sz="900" b="0" i="0">
                <a:solidFill>
                  <a:srgbClr val="788296"/>
                </a:solidFill>
                <a:latin typeface="Open Sans"/>
              </a:rPr>
              <a:t>PromptAnything.io  ·  BishopAI.com  ·  calendly.com/richmond  ·  Automation Nation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00814"/>
        </a:solidFill>
        <a:effectLst/>
      </p:bgPr>
    </p:bg>
    <p:spTree>
      <p:nvGrpSpPr>
        <p:cNvPr id="1" name=""/>
        <p:cNvGrpSpPr/>
        <p:nvPr/>
      </p:nvGrpSpPr>
      <p:grpSpPr/>
      <p:sp>
        <p:nvSpPr>
          <p:cNvPr id="2" name="TextBox 1"/>
          <p:cNvSpPr txBox="1"/>
          <p:nvPr/>
        </p:nvSpPr>
        <p:spPr>
          <a:xfrm>
            <a:off x="411480" y="164592"/>
            <a:ext cx="1005840" cy="347472"/>
          </a:xfrm>
          <a:prstGeom prst="rect">
            <a:avLst/>
          </a:prstGeom>
          <a:noFill/>
        </p:spPr>
        <p:txBody>
          <a:bodyPr wrap="square">
            <a:spAutoFit/>
          </a:bodyPr>
          <a:lstStyle/>
          <a:p>
            <a:pPr algn="l"/>
            <a:r>
              <a:rPr sz="1500" b="1" i="0">
                <a:solidFill>
                  <a:srgbClr val="FAFBFA"/>
                </a:solidFill>
                <a:latin typeface="Poppins"/>
              </a:rPr>
              <a:t>BISHOP</a:t>
            </a:r>
          </a:p>
        </p:txBody>
      </p:sp>
      <p:sp>
        <p:nvSpPr>
          <p:cNvPr id="3" name="TextBox 2"/>
          <p:cNvSpPr txBox="1"/>
          <p:nvPr/>
        </p:nvSpPr>
        <p:spPr>
          <a:xfrm>
            <a:off x="1371600" y="164592"/>
            <a:ext cx="457200" cy="347472"/>
          </a:xfrm>
          <a:prstGeom prst="rect">
            <a:avLst/>
          </a:prstGeom>
          <a:noFill/>
        </p:spPr>
        <p:txBody>
          <a:bodyPr wrap="square">
            <a:spAutoFit/>
          </a:bodyPr>
          <a:lstStyle/>
          <a:p>
            <a:pPr algn="l"/>
            <a:r>
              <a:rPr sz="1500" b="1" i="0">
                <a:solidFill>
                  <a:srgbClr val="E0B848"/>
                </a:solidFill>
                <a:latin typeface="Poppins"/>
              </a:rPr>
              <a:t>AI</a:t>
            </a:r>
          </a:p>
        </p:txBody>
      </p:sp>
      <p:sp>
        <p:nvSpPr>
          <p:cNvPr id="4" name="Rectangle 3"/>
          <p:cNvSpPr/>
          <p:nvPr/>
        </p:nvSpPr>
        <p:spPr>
          <a:xfrm>
            <a:off x="0" y="6601968"/>
            <a:ext cx="12191695" cy="256032"/>
          </a:xfrm>
          <a:prstGeom prst="rect">
            <a:avLst/>
          </a:prstGeom>
          <a:solidFill>
            <a:srgbClr val="121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620256"/>
            <a:ext cx="11247120" cy="201168"/>
          </a:xfrm>
          <a:prstGeom prst="rect">
            <a:avLst/>
          </a:prstGeom>
          <a:noFill/>
        </p:spPr>
        <p:txBody>
          <a:bodyPr wrap="square">
            <a:spAutoFit/>
          </a:bodyPr>
          <a:lstStyle/>
          <a:p>
            <a:pPr algn="ctr"/>
            <a:r>
              <a:rPr sz="900" b="0" i="0">
                <a:solidFill>
                  <a:srgbClr val="788296"/>
                </a:solidFill>
                <a:latin typeface="Open Sans"/>
              </a:rPr>
              <a:t>PromptAnything.io  ·  BishopAI.com  ·  calendly.com/richmond  ·  Automation Nation</a:t>
            </a:r>
          </a:p>
        </p:txBody>
      </p:sp>
      <p:sp>
        <p:nvSpPr>
          <p:cNvPr id="6" name="Rounded Rectangle 5"/>
          <p:cNvSpPr/>
          <p:nvPr/>
        </p:nvSpPr>
        <p:spPr>
          <a:xfrm>
            <a:off x="4971135" y="91440"/>
            <a:ext cx="109728" cy="109728"/>
          </a:xfrm>
          <a:prstGeom prst="roundRect">
            <a:avLst/>
          </a:prstGeom>
          <a:solidFill>
            <a:srgbClr val="788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135727" y="91440"/>
            <a:ext cx="109728" cy="109728"/>
          </a:xfrm>
          <a:prstGeom prst="roundRect">
            <a:avLst/>
          </a:prstGeom>
          <a:solidFill>
            <a:srgbClr val="788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300319" y="91440"/>
            <a:ext cx="109728" cy="109728"/>
          </a:xfrm>
          <a:prstGeom prst="roundRect">
            <a:avLst/>
          </a:prstGeom>
          <a:solidFill>
            <a:srgbClr val="788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464911" y="91440"/>
            <a:ext cx="109728" cy="109728"/>
          </a:xfrm>
          <a:prstGeom prst="roundRect">
            <a:avLst/>
          </a:prstGeom>
          <a:solidFill>
            <a:srgbClr val="788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629503" y="91440"/>
            <a:ext cx="109728" cy="109728"/>
          </a:xfrm>
          <a:prstGeom prst="roundRect">
            <a:avLst/>
          </a:prstGeom>
          <a:solidFill>
            <a:srgbClr val="788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5794095" y="91440"/>
            <a:ext cx="109728" cy="109728"/>
          </a:xfrm>
          <a:prstGeom prst="roundRect">
            <a:avLst/>
          </a:prstGeom>
          <a:solidFill>
            <a:srgbClr val="788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958687" y="91440"/>
            <a:ext cx="109728" cy="109728"/>
          </a:xfrm>
          <a:prstGeom prst="roundRect">
            <a:avLst/>
          </a:prstGeom>
          <a:solidFill>
            <a:srgbClr val="788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123279" y="91440"/>
            <a:ext cx="109728" cy="109728"/>
          </a:xfrm>
          <a:prstGeom prst="roundRect">
            <a:avLst/>
          </a:prstGeom>
          <a:solidFill>
            <a:srgbClr val="788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287871" y="91440"/>
            <a:ext cx="109728" cy="109728"/>
          </a:xfrm>
          <a:prstGeom prst="roundRect">
            <a:avLst/>
          </a:prstGeom>
          <a:solidFill>
            <a:srgbClr val="788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452463" y="91440"/>
            <a:ext cx="109728" cy="109728"/>
          </a:xfrm>
          <a:prstGeom prst="roundRect">
            <a:avLst/>
          </a:prstGeom>
          <a:solidFill>
            <a:srgbClr val="788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617055" y="91440"/>
            <a:ext cx="109728" cy="109728"/>
          </a:xfrm>
          <a:prstGeom prst="roundRect">
            <a:avLst/>
          </a:prstGeom>
          <a:solidFill>
            <a:srgbClr val="E0B8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781647" y="91440"/>
            <a:ext cx="109728" cy="109728"/>
          </a:xfrm>
          <a:prstGeom prst="roundRect">
            <a:avLst/>
          </a:prstGeom>
          <a:solidFill>
            <a:srgbClr val="788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946239" y="91440"/>
            <a:ext cx="109728" cy="109728"/>
          </a:xfrm>
          <a:prstGeom prst="roundRect">
            <a:avLst/>
          </a:prstGeom>
          <a:solidFill>
            <a:srgbClr val="788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7110831" y="91440"/>
            <a:ext cx="109728" cy="109728"/>
          </a:xfrm>
          <a:prstGeom prst="roundRect">
            <a:avLst/>
          </a:prstGeom>
          <a:solidFill>
            <a:srgbClr val="788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11480" y="685800"/>
            <a:ext cx="1408176" cy="292608"/>
          </a:xfrm>
          <a:prstGeom prst="roundRect">
            <a:avLst/>
          </a:prstGeom>
          <a:solidFill>
            <a:srgbClr val="E0B8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11480" y="704088"/>
            <a:ext cx="1408176" cy="256032"/>
          </a:xfrm>
          <a:prstGeom prst="rect">
            <a:avLst/>
          </a:prstGeom>
          <a:noFill/>
        </p:spPr>
        <p:txBody>
          <a:bodyPr wrap="square">
            <a:spAutoFit/>
          </a:bodyPr>
          <a:lstStyle/>
          <a:p>
            <a:pPr algn="ctr"/>
            <a:r>
              <a:rPr sz="1000" b="1" i="0">
                <a:solidFill>
                  <a:srgbClr val="FAFBFA"/>
                </a:solidFill>
                <a:latin typeface="Montserrat"/>
              </a:rPr>
              <a:t>BUILD 3 OF 3</a:t>
            </a:r>
          </a:p>
        </p:txBody>
      </p:sp>
      <p:sp>
        <p:nvSpPr>
          <p:cNvPr id="22" name="TextBox 21"/>
          <p:cNvSpPr txBox="1"/>
          <p:nvPr/>
        </p:nvSpPr>
        <p:spPr>
          <a:xfrm>
            <a:off x="411480" y="1078992"/>
            <a:ext cx="11338560" cy="777240"/>
          </a:xfrm>
          <a:prstGeom prst="rect">
            <a:avLst/>
          </a:prstGeom>
          <a:noFill/>
        </p:spPr>
        <p:txBody>
          <a:bodyPr wrap="square">
            <a:spAutoFit/>
          </a:bodyPr>
          <a:lstStyle/>
          <a:p>
            <a:pPr algn="l"/>
            <a:r>
              <a:rPr sz="2600" b="1" i="0">
                <a:solidFill>
                  <a:srgbClr val="FAFBFA"/>
                </a:solidFill>
                <a:latin typeface="Poppins"/>
              </a:rPr>
              <a:t>Prompt 3: Social Chatter Agent</a:t>
            </a:r>
          </a:p>
        </p:txBody>
      </p:sp>
      <p:sp>
        <p:nvSpPr>
          <p:cNvPr id="23" name="Rounded Rectangle 22"/>
          <p:cNvSpPr/>
          <p:nvPr/>
        </p:nvSpPr>
        <p:spPr>
          <a:xfrm>
            <a:off x="411480" y="1938528"/>
            <a:ext cx="11338560" cy="457200"/>
          </a:xfrm>
          <a:prstGeom prst="roundRect">
            <a:avLst/>
          </a:prstGeom>
          <a:solidFill>
            <a:srgbClr val="1E2333"/>
          </a:solidFill>
          <a:ln w="6350">
            <a:solidFill>
              <a:srgbClr val="E0B8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94360" y="1984248"/>
            <a:ext cx="10972800" cy="347472"/>
          </a:xfrm>
          <a:prstGeom prst="rect">
            <a:avLst/>
          </a:prstGeom>
          <a:noFill/>
        </p:spPr>
        <p:txBody>
          <a:bodyPr wrap="square">
            <a:spAutoFit/>
          </a:bodyPr>
          <a:lstStyle/>
          <a:p>
            <a:pPr algn="l"/>
            <a:r>
              <a:rPr sz="1300" b="0" i="0">
                <a:solidFill>
                  <a:srgbClr val="C8CDD7"/>
                </a:solidFill>
                <a:latin typeface="Open Sans"/>
              </a:rPr>
              <a:t>⚡  Top reps research every prospect before contact. Manual research: 30-60 min per call. So it gets skipped. (LinkedIn, 2025)</a:t>
            </a:r>
          </a:p>
        </p:txBody>
      </p:sp>
      <p:sp>
        <p:nvSpPr>
          <p:cNvPr id="25" name="Rounded Rectangle 24"/>
          <p:cNvSpPr/>
          <p:nvPr/>
        </p:nvSpPr>
        <p:spPr>
          <a:xfrm>
            <a:off x="411480" y="2542032"/>
            <a:ext cx="11338560" cy="384048"/>
          </a:xfrm>
          <a:prstGeom prst="roundRect">
            <a:avLst/>
          </a:prstGeom>
          <a:solidFill>
            <a:srgbClr val="282D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11480" y="2834640"/>
            <a:ext cx="11338560" cy="73152"/>
          </a:xfrm>
          <a:prstGeom prst="rect">
            <a:avLst/>
          </a:prstGeom>
          <a:solidFill>
            <a:srgbClr val="282D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621792" y="2651760"/>
            <a:ext cx="164592" cy="164592"/>
          </a:xfrm>
          <a:prstGeom prst="roundRect">
            <a:avLst/>
          </a:prstGeom>
          <a:solidFill>
            <a:srgbClr val="FF5A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877824" y="2651760"/>
            <a:ext cx="164592" cy="164592"/>
          </a:xfrm>
          <a:prstGeom prst="roundRect">
            <a:avLst/>
          </a:prstGeom>
          <a:solidFill>
            <a:srgbClr val="FFBE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1133856" y="2651760"/>
            <a:ext cx="164592" cy="164592"/>
          </a:xfrm>
          <a:prstGeom prst="roundRect">
            <a:avLst/>
          </a:prstGeom>
          <a:solidFill>
            <a:srgbClr val="50C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371600" y="2606040"/>
            <a:ext cx="5486400" cy="274320"/>
          </a:xfrm>
          <a:prstGeom prst="rect">
            <a:avLst/>
          </a:prstGeom>
          <a:noFill/>
        </p:spPr>
        <p:txBody>
          <a:bodyPr wrap="square">
            <a:spAutoFit/>
          </a:bodyPr>
          <a:lstStyle/>
          <a:p>
            <a:pPr algn="l"/>
            <a:r>
              <a:rPr sz="1100" b="0" i="0">
                <a:solidFill>
                  <a:srgbClr val="788296"/>
                </a:solidFill>
                <a:latin typeface="Courier New"/>
              </a:rPr>
              <a:t>rough_prompt.txt</a:t>
            </a:r>
          </a:p>
        </p:txBody>
      </p:sp>
      <p:sp>
        <p:nvSpPr>
          <p:cNvPr id="31" name="Rounded Rectangle 30"/>
          <p:cNvSpPr/>
          <p:nvPr/>
        </p:nvSpPr>
        <p:spPr>
          <a:xfrm>
            <a:off x="9601200" y="2633472"/>
            <a:ext cx="1408176" cy="292608"/>
          </a:xfrm>
          <a:prstGeom prst="roundRect">
            <a:avLst/>
          </a:prstGeom>
          <a:solidFill>
            <a:srgbClr val="E0B8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601200" y="2651760"/>
            <a:ext cx="1408176" cy="256032"/>
          </a:xfrm>
          <a:prstGeom prst="rect">
            <a:avLst/>
          </a:prstGeom>
          <a:noFill/>
        </p:spPr>
        <p:txBody>
          <a:bodyPr wrap="square">
            <a:spAutoFit/>
          </a:bodyPr>
          <a:lstStyle/>
          <a:p>
            <a:pPr algn="ctr"/>
            <a:r>
              <a:rPr sz="900" b="1" i="0">
                <a:solidFill>
                  <a:srgbClr val="000814"/>
                </a:solidFill>
                <a:latin typeface="Montserrat"/>
              </a:rPr>
              <a:t>ROUGH PROMPT</a:t>
            </a:r>
          </a:p>
        </p:txBody>
      </p:sp>
      <p:sp>
        <p:nvSpPr>
          <p:cNvPr id="33" name="Rounded Rectangle 32"/>
          <p:cNvSpPr/>
          <p:nvPr/>
        </p:nvSpPr>
        <p:spPr>
          <a:xfrm>
            <a:off x="411480" y="2907792"/>
            <a:ext cx="11338560" cy="2743200"/>
          </a:xfrm>
          <a:prstGeom prst="roundRect">
            <a:avLst/>
          </a:prstGeom>
          <a:solidFill>
            <a:srgbClr val="0C1020"/>
          </a:solidFill>
          <a:ln w="6350">
            <a:solidFill>
              <a:srgbClr val="2832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411480" y="2907792"/>
            <a:ext cx="11338560" cy="137160"/>
          </a:xfrm>
          <a:prstGeom prst="rect">
            <a:avLst/>
          </a:prstGeom>
          <a:solidFill>
            <a:srgbClr val="0C1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58368" y="2999232"/>
            <a:ext cx="10881360" cy="2514600"/>
          </a:xfrm>
          <a:prstGeom prst="rect">
            <a:avLst/>
          </a:prstGeom>
          <a:noFill/>
        </p:spPr>
        <p:txBody>
          <a:bodyPr wrap="square">
            <a:spAutoFit/>
          </a:bodyPr>
          <a:lstStyle/>
          <a:p>
            <a:r>
              <a:rPr sz="1300">
                <a:solidFill>
                  <a:srgbClr val="B4DCB4"/>
                </a:solidFill>
                <a:latin typeface="Courier New"/>
              </a:rPr>
              <a:t>I want a full research brief on a prospect before I reach out.
I need: weaknesses of their current tools from real reviews,
recent company activity and intent signals,
a persona analysis for their specific role,
an opening angle for my product,
and a talk track opener for a call or LinkedIn message.</a:t>
            </a:r>
          </a:p>
        </p:txBody>
      </p:sp>
      <p:sp>
        <p:nvSpPr>
          <p:cNvPr id="36" name="Rounded Rectangle 35"/>
          <p:cNvSpPr/>
          <p:nvPr/>
        </p:nvSpPr>
        <p:spPr>
          <a:xfrm>
            <a:off x="411480" y="5806440"/>
            <a:ext cx="11338560" cy="384048"/>
          </a:xfrm>
          <a:prstGeom prst="round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94360" y="5852160"/>
            <a:ext cx="10972800" cy="320040"/>
          </a:xfrm>
          <a:prstGeom prst="rect">
            <a:avLst/>
          </a:prstGeom>
          <a:noFill/>
        </p:spPr>
        <p:txBody>
          <a:bodyPr wrap="square">
            <a:spAutoFit/>
          </a:bodyPr>
          <a:lstStyle/>
          <a:p>
            <a:pPr algn="ctr"/>
            <a:r>
              <a:rPr sz="1200" b="0" i="0">
                <a:solidFill>
                  <a:srgbClr val="1894C9"/>
                </a:solidFill>
                <a:latin typeface="Montserrat"/>
              </a:rPr>
              <a:t>Paste into PromptAnything  →  Agent  →  Review questions  →  Refine  →  Generate  →  Push to Claude Project</a:t>
            </a:r>
          </a:p>
        </p:txBody>
      </p:sp>
      <p:sp>
        <p:nvSpPr>
          <p:cNvPr id="38" name="Rectangle 37"/>
          <p:cNvSpPr/>
          <p:nvPr/>
        </p:nvSpPr>
        <p:spPr>
          <a:xfrm>
            <a:off x="0" y="6601968"/>
            <a:ext cx="12191695" cy="256032"/>
          </a:xfrm>
          <a:prstGeom prst="rect">
            <a:avLst/>
          </a:prstGeom>
          <a:solidFill>
            <a:srgbClr val="121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57200" y="6620256"/>
            <a:ext cx="11247120" cy="201168"/>
          </a:xfrm>
          <a:prstGeom prst="rect">
            <a:avLst/>
          </a:prstGeom>
          <a:noFill/>
        </p:spPr>
        <p:txBody>
          <a:bodyPr wrap="square">
            <a:spAutoFit/>
          </a:bodyPr>
          <a:lstStyle/>
          <a:p>
            <a:pPr algn="ctr"/>
            <a:r>
              <a:rPr sz="900" b="0" i="0">
                <a:solidFill>
                  <a:srgbClr val="788296"/>
                </a:solidFill>
                <a:latin typeface="Open Sans"/>
              </a:rPr>
              <a:t>PromptAnything.io  ·  BishopAI.com  ·  calendly.com/richmond  ·  Automation Nation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00814"/>
        </a:solidFill>
        <a:effectLst/>
      </p:bgPr>
    </p:bg>
    <p:spTree>
      <p:nvGrpSpPr>
        <p:cNvPr id="1" name=""/>
        <p:cNvGrpSpPr/>
        <p:nvPr/>
      </p:nvGrpSpPr>
      <p:grpSpPr/>
      <p:sp>
        <p:nvSpPr>
          <p:cNvPr id="2" name="TextBox 1"/>
          <p:cNvSpPr txBox="1"/>
          <p:nvPr/>
        </p:nvSpPr>
        <p:spPr>
          <a:xfrm>
            <a:off x="411480" y="164592"/>
            <a:ext cx="1005840" cy="347472"/>
          </a:xfrm>
          <a:prstGeom prst="rect">
            <a:avLst/>
          </a:prstGeom>
          <a:noFill/>
        </p:spPr>
        <p:txBody>
          <a:bodyPr wrap="square">
            <a:spAutoFit/>
          </a:bodyPr>
          <a:lstStyle/>
          <a:p>
            <a:pPr algn="l"/>
            <a:r>
              <a:rPr sz="1500" b="1" i="0">
                <a:solidFill>
                  <a:srgbClr val="FAFBFA"/>
                </a:solidFill>
                <a:latin typeface="Poppins"/>
              </a:rPr>
              <a:t>BISHOP</a:t>
            </a:r>
          </a:p>
        </p:txBody>
      </p:sp>
      <p:sp>
        <p:nvSpPr>
          <p:cNvPr id="3" name="TextBox 2"/>
          <p:cNvSpPr txBox="1"/>
          <p:nvPr/>
        </p:nvSpPr>
        <p:spPr>
          <a:xfrm>
            <a:off x="1371600" y="164592"/>
            <a:ext cx="457200" cy="347472"/>
          </a:xfrm>
          <a:prstGeom prst="rect">
            <a:avLst/>
          </a:prstGeom>
          <a:noFill/>
        </p:spPr>
        <p:txBody>
          <a:bodyPr wrap="square">
            <a:spAutoFit/>
          </a:bodyPr>
          <a:lstStyle/>
          <a:p>
            <a:pPr algn="l"/>
            <a:r>
              <a:rPr sz="1500" b="1" i="0">
                <a:solidFill>
                  <a:srgbClr val="E0B848"/>
                </a:solidFill>
                <a:latin typeface="Poppins"/>
              </a:rPr>
              <a:t>AI</a:t>
            </a:r>
          </a:p>
        </p:txBody>
      </p:sp>
      <p:sp>
        <p:nvSpPr>
          <p:cNvPr id="4" name="Rectangle 3"/>
          <p:cNvSpPr/>
          <p:nvPr/>
        </p:nvSpPr>
        <p:spPr>
          <a:xfrm>
            <a:off x="0" y="6601968"/>
            <a:ext cx="12191695" cy="256032"/>
          </a:xfrm>
          <a:prstGeom prst="rect">
            <a:avLst/>
          </a:prstGeom>
          <a:solidFill>
            <a:srgbClr val="121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620256"/>
            <a:ext cx="11247120" cy="201168"/>
          </a:xfrm>
          <a:prstGeom prst="rect">
            <a:avLst/>
          </a:prstGeom>
          <a:noFill/>
        </p:spPr>
        <p:txBody>
          <a:bodyPr wrap="square">
            <a:spAutoFit/>
          </a:bodyPr>
          <a:lstStyle/>
          <a:p>
            <a:pPr algn="ctr"/>
            <a:r>
              <a:rPr sz="900" b="0" i="0">
                <a:solidFill>
                  <a:srgbClr val="788296"/>
                </a:solidFill>
                <a:latin typeface="Open Sans"/>
              </a:rPr>
              <a:t>PromptAnything.io  ·  BishopAI.com  ·  calendly.com/richmond  ·  Automation Nation</a:t>
            </a:r>
          </a:p>
        </p:txBody>
      </p:sp>
      <p:sp>
        <p:nvSpPr>
          <p:cNvPr id="6" name="Rounded Rectangle 5"/>
          <p:cNvSpPr/>
          <p:nvPr/>
        </p:nvSpPr>
        <p:spPr>
          <a:xfrm>
            <a:off x="4971135" y="91440"/>
            <a:ext cx="109728" cy="109728"/>
          </a:xfrm>
          <a:prstGeom prst="roundRect">
            <a:avLst/>
          </a:prstGeom>
          <a:solidFill>
            <a:srgbClr val="788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135727" y="91440"/>
            <a:ext cx="109728" cy="109728"/>
          </a:xfrm>
          <a:prstGeom prst="roundRect">
            <a:avLst/>
          </a:prstGeom>
          <a:solidFill>
            <a:srgbClr val="788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300319" y="91440"/>
            <a:ext cx="109728" cy="109728"/>
          </a:xfrm>
          <a:prstGeom prst="roundRect">
            <a:avLst/>
          </a:prstGeom>
          <a:solidFill>
            <a:srgbClr val="788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464911" y="91440"/>
            <a:ext cx="109728" cy="109728"/>
          </a:xfrm>
          <a:prstGeom prst="roundRect">
            <a:avLst/>
          </a:prstGeom>
          <a:solidFill>
            <a:srgbClr val="788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629503" y="91440"/>
            <a:ext cx="109728" cy="109728"/>
          </a:xfrm>
          <a:prstGeom prst="roundRect">
            <a:avLst/>
          </a:prstGeom>
          <a:solidFill>
            <a:srgbClr val="788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5794095" y="91440"/>
            <a:ext cx="109728" cy="109728"/>
          </a:xfrm>
          <a:prstGeom prst="roundRect">
            <a:avLst/>
          </a:prstGeom>
          <a:solidFill>
            <a:srgbClr val="788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958687" y="91440"/>
            <a:ext cx="109728" cy="109728"/>
          </a:xfrm>
          <a:prstGeom prst="roundRect">
            <a:avLst/>
          </a:prstGeom>
          <a:solidFill>
            <a:srgbClr val="788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123279" y="91440"/>
            <a:ext cx="109728" cy="109728"/>
          </a:xfrm>
          <a:prstGeom prst="roundRect">
            <a:avLst/>
          </a:prstGeom>
          <a:solidFill>
            <a:srgbClr val="788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287871" y="91440"/>
            <a:ext cx="109728" cy="109728"/>
          </a:xfrm>
          <a:prstGeom prst="roundRect">
            <a:avLst/>
          </a:prstGeom>
          <a:solidFill>
            <a:srgbClr val="788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452463" y="91440"/>
            <a:ext cx="109728" cy="109728"/>
          </a:xfrm>
          <a:prstGeom prst="roundRect">
            <a:avLst/>
          </a:prstGeom>
          <a:solidFill>
            <a:srgbClr val="788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617055" y="91440"/>
            <a:ext cx="109728" cy="109728"/>
          </a:xfrm>
          <a:prstGeom prst="roundRect">
            <a:avLst/>
          </a:prstGeom>
          <a:solidFill>
            <a:srgbClr val="788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781647" y="91440"/>
            <a:ext cx="109728" cy="109728"/>
          </a:xfrm>
          <a:prstGeom prst="roundRect">
            <a:avLst/>
          </a:prstGeom>
          <a:solidFill>
            <a:srgbClr val="E0B8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946239" y="91440"/>
            <a:ext cx="109728" cy="109728"/>
          </a:xfrm>
          <a:prstGeom prst="roundRect">
            <a:avLst/>
          </a:prstGeom>
          <a:solidFill>
            <a:srgbClr val="788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7110831" y="91440"/>
            <a:ext cx="109728" cy="109728"/>
          </a:xfrm>
          <a:prstGeom prst="roundRect">
            <a:avLst/>
          </a:prstGeom>
          <a:solidFill>
            <a:srgbClr val="788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11480" y="685800"/>
            <a:ext cx="1408176" cy="292608"/>
          </a:xfrm>
          <a:prstGeom prst="roundRect">
            <a:avLst/>
          </a:prstGeom>
          <a:solidFill>
            <a:srgbClr val="E0B8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11480" y="704088"/>
            <a:ext cx="1408176" cy="256032"/>
          </a:xfrm>
          <a:prstGeom prst="rect">
            <a:avLst/>
          </a:prstGeom>
          <a:noFill/>
        </p:spPr>
        <p:txBody>
          <a:bodyPr wrap="square">
            <a:spAutoFit/>
          </a:bodyPr>
          <a:lstStyle/>
          <a:p>
            <a:pPr algn="ctr"/>
            <a:r>
              <a:rPr sz="1000" b="1" i="0">
                <a:solidFill>
                  <a:srgbClr val="FAFBFA"/>
                </a:solidFill>
                <a:latin typeface="Montserrat"/>
              </a:rPr>
              <a:t>BUILD 3 OF 3</a:t>
            </a:r>
          </a:p>
        </p:txBody>
      </p:sp>
      <p:sp>
        <p:nvSpPr>
          <p:cNvPr id="22" name="TextBox 21"/>
          <p:cNvSpPr txBox="1"/>
          <p:nvPr/>
        </p:nvSpPr>
        <p:spPr>
          <a:xfrm>
            <a:off x="411480" y="1078992"/>
            <a:ext cx="11338560" cy="777240"/>
          </a:xfrm>
          <a:prstGeom prst="rect">
            <a:avLst/>
          </a:prstGeom>
          <a:noFill/>
        </p:spPr>
        <p:txBody>
          <a:bodyPr wrap="square">
            <a:spAutoFit/>
          </a:bodyPr>
          <a:lstStyle/>
          <a:p>
            <a:pPr algn="l"/>
            <a:r>
              <a:rPr sz="2600" b="1" i="0">
                <a:solidFill>
                  <a:srgbClr val="FAFBFA"/>
                </a:solidFill>
                <a:latin typeface="Poppins"/>
              </a:rPr>
              <a:t>Walk in knowing what their tools are already failing at.</a:t>
            </a:r>
          </a:p>
        </p:txBody>
      </p:sp>
      <p:sp>
        <p:nvSpPr>
          <p:cNvPr id="23" name="Rounded Rectangle 22"/>
          <p:cNvSpPr/>
          <p:nvPr/>
        </p:nvSpPr>
        <p:spPr>
          <a:xfrm>
            <a:off x="411480" y="1920240"/>
            <a:ext cx="11338560" cy="1097280"/>
          </a:xfrm>
          <a:prstGeom prst="roundRect">
            <a:avLst/>
          </a:prstGeom>
          <a:solidFill>
            <a:srgbClr val="121626"/>
          </a:solidFill>
          <a:ln w="6350">
            <a:solidFill>
              <a:srgbClr val="1064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594360" y="2148840"/>
            <a:ext cx="594360" cy="594360"/>
          </a:xfrm>
          <a:prstGeom prst="roundRect">
            <a:avLst/>
          </a:prstGeom>
          <a:solidFill>
            <a:srgbClr val="E0B8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94360" y="2148840"/>
            <a:ext cx="594360" cy="594360"/>
          </a:xfrm>
          <a:prstGeom prst="rect">
            <a:avLst/>
          </a:prstGeom>
          <a:noFill/>
        </p:spPr>
        <p:txBody>
          <a:bodyPr wrap="square">
            <a:spAutoFit/>
          </a:bodyPr>
          <a:lstStyle/>
          <a:p>
            <a:pPr algn="ctr"/>
            <a:r>
              <a:rPr sz="1600" b="1" i="0">
                <a:solidFill>
                  <a:srgbClr val="000814"/>
                </a:solidFill>
                <a:latin typeface="Poppins"/>
              </a:rPr>
              <a:t>✓</a:t>
            </a:r>
          </a:p>
        </p:txBody>
      </p:sp>
      <p:sp>
        <p:nvSpPr>
          <p:cNvPr id="26" name="TextBox 25"/>
          <p:cNvSpPr txBox="1"/>
          <p:nvPr/>
        </p:nvSpPr>
        <p:spPr>
          <a:xfrm>
            <a:off x="1371600" y="2121408"/>
            <a:ext cx="10241280" cy="685800"/>
          </a:xfrm>
          <a:prstGeom prst="rect">
            <a:avLst/>
          </a:prstGeom>
          <a:noFill/>
        </p:spPr>
        <p:txBody>
          <a:bodyPr wrap="square">
            <a:spAutoFit/>
          </a:bodyPr>
          <a:lstStyle/>
          <a:p>
            <a:pPr algn="l"/>
            <a:r>
              <a:rPr sz="1500" b="0" i="0">
                <a:solidFill>
                  <a:srgbClr val="FAFBFA"/>
                </a:solidFill>
                <a:latin typeface="Open Sans"/>
              </a:rPr>
              <a:t>Competitor weaknesses from G2, Trustpilot, Reddit — specific, not generic</a:t>
            </a:r>
          </a:p>
        </p:txBody>
      </p:sp>
      <p:sp>
        <p:nvSpPr>
          <p:cNvPr id="27" name="Rounded Rectangle 26"/>
          <p:cNvSpPr/>
          <p:nvPr/>
        </p:nvSpPr>
        <p:spPr>
          <a:xfrm>
            <a:off x="411480" y="3200400"/>
            <a:ext cx="11338560" cy="1097280"/>
          </a:xfrm>
          <a:prstGeom prst="roundRect">
            <a:avLst/>
          </a:prstGeom>
          <a:solidFill>
            <a:srgbClr val="121626"/>
          </a:solidFill>
          <a:ln w="6350">
            <a:solidFill>
              <a:srgbClr val="1064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594360" y="3429000"/>
            <a:ext cx="594360" cy="594360"/>
          </a:xfrm>
          <a:prstGeom prst="roundRect">
            <a:avLst/>
          </a:prstGeom>
          <a:solidFill>
            <a:srgbClr val="E0B8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94360" y="3429000"/>
            <a:ext cx="594360" cy="594360"/>
          </a:xfrm>
          <a:prstGeom prst="rect">
            <a:avLst/>
          </a:prstGeom>
          <a:noFill/>
        </p:spPr>
        <p:txBody>
          <a:bodyPr wrap="square">
            <a:spAutoFit/>
          </a:bodyPr>
          <a:lstStyle/>
          <a:p>
            <a:pPr algn="ctr"/>
            <a:r>
              <a:rPr sz="1600" b="1" i="0">
                <a:solidFill>
                  <a:srgbClr val="000814"/>
                </a:solidFill>
                <a:latin typeface="Poppins"/>
              </a:rPr>
              <a:t>✓</a:t>
            </a:r>
          </a:p>
        </p:txBody>
      </p:sp>
      <p:sp>
        <p:nvSpPr>
          <p:cNvPr id="30" name="TextBox 29"/>
          <p:cNvSpPr txBox="1"/>
          <p:nvPr/>
        </p:nvSpPr>
        <p:spPr>
          <a:xfrm>
            <a:off x="1371600" y="3401568"/>
            <a:ext cx="10241280" cy="685800"/>
          </a:xfrm>
          <a:prstGeom prst="rect">
            <a:avLst/>
          </a:prstGeom>
          <a:noFill/>
        </p:spPr>
        <p:txBody>
          <a:bodyPr wrap="square">
            <a:spAutoFit/>
          </a:bodyPr>
          <a:lstStyle/>
          <a:p>
            <a:pPr algn="l"/>
            <a:r>
              <a:rPr sz="1500" b="0" i="0">
                <a:solidFill>
                  <a:srgbClr val="FAFBFA"/>
                </a:solidFill>
                <a:latin typeface="Open Sans"/>
              </a:rPr>
              <a:t>Intent signals: last 90 days of funding, hiring, leadership changes</a:t>
            </a:r>
          </a:p>
        </p:txBody>
      </p:sp>
      <p:sp>
        <p:nvSpPr>
          <p:cNvPr id="31" name="Rounded Rectangle 30"/>
          <p:cNvSpPr/>
          <p:nvPr/>
        </p:nvSpPr>
        <p:spPr>
          <a:xfrm>
            <a:off x="411480" y="4480560"/>
            <a:ext cx="11338560" cy="1097280"/>
          </a:xfrm>
          <a:prstGeom prst="roundRect">
            <a:avLst/>
          </a:prstGeom>
          <a:solidFill>
            <a:srgbClr val="121626"/>
          </a:solidFill>
          <a:ln w="6350">
            <a:solidFill>
              <a:srgbClr val="1064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594360" y="4709160"/>
            <a:ext cx="594360" cy="594360"/>
          </a:xfrm>
          <a:prstGeom prst="roundRect">
            <a:avLst/>
          </a:prstGeom>
          <a:solidFill>
            <a:srgbClr val="E0B8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94360" y="4709160"/>
            <a:ext cx="594360" cy="594360"/>
          </a:xfrm>
          <a:prstGeom prst="rect">
            <a:avLst/>
          </a:prstGeom>
          <a:noFill/>
        </p:spPr>
        <p:txBody>
          <a:bodyPr wrap="square">
            <a:spAutoFit/>
          </a:bodyPr>
          <a:lstStyle/>
          <a:p>
            <a:pPr algn="ctr"/>
            <a:r>
              <a:rPr sz="1600" b="1" i="0">
                <a:solidFill>
                  <a:srgbClr val="000814"/>
                </a:solidFill>
                <a:latin typeface="Poppins"/>
              </a:rPr>
              <a:t>✓</a:t>
            </a:r>
          </a:p>
        </p:txBody>
      </p:sp>
      <p:sp>
        <p:nvSpPr>
          <p:cNvPr id="34" name="TextBox 33"/>
          <p:cNvSpPr txBox="1"/>
          <p:nvPr/>
        </p:nvSpPr>
        <p:spPr>
          <a:xfrm>
            <a:off x="1371600" y="4681728"/>
            <a:ext cx="10241280" cy="685800"/>
          </a:xfrm>
          <a:prstGeom prst="rect">
            <a:avLst/>
          </a:prstGeom>
          <a:noFill/>
        </p:spPr>
        <p:txBody>
          <a:bodyPr wrap="square">
            <a:spAutoFit/>
          </a:bodyPr>
          <a:lstStyle/>
          <a:p>
            <a:pPr algn="l"/>
            <a:r>
              <a:rPr sz="1500" b="0" i="0">
                <a:solidFill>
                  <a:srgbClr val="FAFBFA"/>
                </a:solidFill>
                <a:latin typeface="Open Sans"/>
              </a:rPr>
              <a:t>Opening angle + talk track opener — ready to send or say right now</a:t>
            </a:r>
          </a:p>
        </p:txBody>
      </p:sp>
      <p:sp>
        <p:nvSpPr>
          <p:cNvPr id="35" name="TextBox 34"/>
          <p:cNvSpPr txBox="1"/>
          <p:nvPr/>
        </p:nvSpPr>
        <p:spPr>
          <a:xfrm>
            <a:off x="411480" y="5852160"/>
            <a:ext cx="11338560" cy="347472"/>
          </a:xfrm>
          <a:prstGeom prst="rect">
            <a:avLst/>
          </a:prstGeom>
          <a:noFill/>
        </p:spPr>
        <p:txBody>
          <a:bodyPr wrap="square">
            <a:spAutoFit/>
          </a:bodyPr>
          <a:lstStyle/>
          <a:p>
            <a:pPr algn="l"/>
            <a:r>
              <a:rPr sz="1300" b="0" i="1">
                <a:solidFill>
                  <a:srgbClr val="E0B848"/>
                </a:solidFill>
                <a:latin typeface="Montserrat"/>
              </a:rPr>
              <a:t>→  45 minutes of research → 90 seconds. Every time. For every prospect.</a:t>
            </a:r>
          </a:p>
        </p:txBody>
      </p:sp>
      <p:sp>
        <p:nvSpPr>
          <p:cNvPr id="36" name="Rounded Rectangle 35"/>
          <p:cNvSpPr/>
          <p:nvPr/>
        </p:nvSpPr>
        <p:spPr>
          <a:xfrm>
            <a:off x="411480" y="6281928"/>
            <a:ext cx="11338560" cy="1188720"/>
          </a:xfrm>
          <a:prstGeom prst="roundRect">
            <a:avLst/>
          </a:prstGeom>
          <a:solidFill>
            <a:srgbClr val="1E2333"/>
          </a:solidFill>
          <a:ln w="9525">
            <a:solidFill>
              <a:srgbClr val="E0B8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594360" y="6400800"/>
            <a:ext cx="1147572" cy="292608"/>
          </a:xfrm>
          <a:prstGeom prst="roundRect">
            <a:avLst/>
          </a:prstGeom>
          <a:solidFill>
            <a:srgbClr val="E0B8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94360" y="6419088"/>
            <a:ext cx="1147572" cy="256032"/>
          </a:xfrm>
          <a:prstGeom prst="rect">
            <a:avLst/>
          </a:prstGeom>
          <a:noFill/>
        </p:spPr>
        <p:txBody>
          <a:bodyPr wrap="square">
            <a:spAutoFit/>
          </a:bodyPr>
          <a:lstStyle/>
          <a:p>
            <a:pPr algn="ctr"/>
            <a:r>
              <a:rPr sz="1000" b="1" i="0">
                <a:solidFill>
                  <a:srgbClr val="000814"/>
                </a:solidFill>
                <a:latin typeface="Montserrat"/>
              </a:rPr>
              <a:t>YOUR TURN</a:t>
            </a:r>
          </a:p>
        </p:txBody>
      </p:sp>
      <p:sp>
        <p:nvSpPr>
          <p:cNvPr id="39" name="TextBox 38"/>
          <p:cNvSpPr txBox="1"/>
          <p:nvPr/>
        </p:nvSpPr>
        <p:spPr>
          <a:xfrm>
            <a:off x="594360" y="6748272"/>
            <a:ext cx="10972800" cy="594360"/>
          </a:xfrm>
          <a:prstGeom prst="rect">
            <a:avLst/>
          </a:prstGeom>
          <a:noFill/>
        </p:spPr>
        <p:txBody>
          <a:bodyPr wrap="square">
            <a:spAutoFit/>
          </a:bodyPr>
          <a:lstStyle/>
          <a:p>
            <a:pPr algn="l"/>
            <a:r>
              <a:rPr sz="1300" b="0" i="0">
                <a:solidFill>
                  <a:srgbClr val="C8CDD7"/>
                </a:solidFill>
                <a:latin typeface="Open Sans"/>
              </a:rPr>
              <a:t>Build yours: your product, ICP, top 2-3 competitors. Run on a real prospect. Paste the Competitor Weaknesses section in the chat.</a:t>
            </a:r>
          </a:p>
        </p:txBody>
      </p:sp>
      <p:sp>
        <p:nvSpPr>
          <p:cNvPr id="40" name="Rectangle 39"/>
          <p:cNvSpPr/>
          <p:nvPr/>
        </p:nvSpPr>
        <p:spPr>
          <a:xfrm>
            <a:off x="0" y="6601968"/>
            <a:ext cx="12191695" cy="256032"/>
          </a:xfrm>
          <a:prstGeom prst="rect">
            <a:avLst/>
          </a:prstGeom>
          <a:solidFill>
            <a:srgbClr val="121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57200" y="6620256"/>
            <a:ext cx="11247120" cy="201168"/>
          </a:xfrm>
          <a:prstGeom prst="rect">
            <a:avLst/>
          </a:prstGeom>
          <a:noFill/>
        </p:spPr>
        <p:txBody>
          <a:bodyPr wrap="square">
            <a:spAutoFit/>
          </a:bodyPr>
          <a:lstStyle/>
          <a:p>
            <a:pPr algn="ctr"/>
            <a:r>
              <a:rPr sz="900" b="0" i="0">
                <a:solidFill>
                  <a:srgbClr val="788296"/>
                </a:solidFill>
                <a:latin typeface="Open Sans"/>
              </a:rPr>
              <a:t>PromptAnything.io  ·  BishopAI.com  ·  calendly.com/richmond  ·  Automation Nation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00814"/>
        </a:solidFill>
        <a:effectLst/>
      </p:bgPr>
    </p:bg>
    <p:spTree>
      <p:nvGrpSpPr>
        <p:cNvPr id="1" name=""/>
        <p:cNvGrpSpPr/>
        <p:nvPr/>
      </p:nvGrpSpPr>
      <p:grpSpPr/>
      <p:sp>
        <p:nvSpPr>
          <p:cNvPr id="2" name="TextBox 1"/>
          <p:cNvSpPr txBox="1"/>
          <p:nvPr/>
        </p:nvSpPr>
        <p:spPr>
          <a:xfrm>
            <a:off x="411480" y="164592"/>
            <a:ext cx="1005840" cy="347472"/>
          </a:xfrm>
          <a:prstGeom prst="rect">
            <a:avLst/>
          </a:prstGeom>
          <a:noFill/>
        </p:spPr>
        <p:txBody>
          <a:bodyPr wrap="square">
            <a:spAutoFit/>
          </a:bodyPr>
          <a:lstStyle/>
          <a:p>
            <a:pPr algn="l"/>
            <a:r>
              <a:rPr sz="1500" b="1" i="0">
                <a:solidFill>
                  <a:srgbClr val="FAFBFA"/>
                </a:solidFill>
                <a:latin typeface="Poppins"/>
              </a:rPr>
              <a:t>BISHOP</a:t>
            </a:r>
          </a:p>
        </p:txBody>
      </p:sp>
      <p:sp>
        <p:nvSpPr>
          <p:cNvPr id="3" name="TextBox 2"/>
          <p:cNvSpPr txBox="1"/>
          <p:nvPr/>
        </p:nvSpPr>
        <p:spPr>
          <a:xfrm>
            <a:off x="1371600" y="164592"/>
            <a:ext cx="457200" cy="347472"/>
          </a:xfrm>
          <a:prstGeom prst="rect">
            <a:avLst/>
          </a:prstGeom>
          <a:noFill/>
        </p:spPr>
        <p:txBody>
          <a:bodyPr wrap="square">
            <a:spAutoFit/>
          </a:bodyPr>
          <a:lstStyle/>
          <a:p>
            <a:pPr algn="l"/>
            <a:r>
              <a:rPr sz="1500" b="1" i="0">
                <a:solidFill>
                  <a:srgbClr val="E0B848"/>
                </a:solidFill>
                <a:latin typeface="Poppins"/>
              </a:rPr>
              <a:t>AI</a:t>
            </a:r>
          </a:p>
        </p:txBody>
      </p:sp>
      <p:sp>
        <p:nvSpPr>
          <p:cNvPr id="4" name="Rectangle 3"/>
          <p:cNvSpPr/>
          <p:nvPr/>
        </p:nvSpPr>
        <p:spPr>
          <a:xfrm>
            <a:off x="0" y="6601968"/>
            <a:ext cx="12191695" cy="256032"/>
          </a:xfrm>
          <a:prstGeom prst="rect">
            <a:avLst/>
          </a:prstGeom>
          <a:solidFill>
            <a:srgbClr val="121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620256"/>
            <a:ext cx="11247120" cy="201168"/>
          </a:xfrm>
          <a:prstGeom prst="rect">
            <a:avLst/>
          </a:prstGeom>
          <a:noFill/>
        </p:spPr>
        <p:txBody>
          <a:bodyPr wrap="square">
            <a:spAutoFit/>
          </a:bodyPr>
          <a:lstStyle/>
          <a:p>
            <a:pPr algn="ctr"/>
            <a:r>
              <a:rPr sz="900" b="0" i="0">
                <a:solidFill>
                  <a:srgbClr val="788296"/>
                </a:solidFill>
                <a:latin typeface="Open Sans"/>
              </a:rPr>
              <a:t>PromptAnything.io  ·  BishopAI.com  ·  calendly.com/richmond  ·  Automation Nation</a:t>
            </a:r>
          </a:p>
        </p:txBody>
      </p:sp>
      <p:sp>
        <p:nvSpPr>
          <p:cNvPr id="6" name="Rounded Rectangle 5"/>
          <p:cNvSpPr/>
          <p:nvPr/>
        </p:nvSpPr>
        <p:spPr>
          <a:xfrm>
            <a:off x="4971135" y="91440"/>
            <a:ext cx="109728" cy="109728"/>
          </a:xfrm>
          <a:prstGeom prst="roundRect">
            <a:avLst/>
          </a:prstGeom>
          <a:solidFill>
            <a:srgbClr val="788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135727" y="91440"/>
            <a:ext cx="109728" cy="109728"/>
          </a:xfrm>
          <a:prstGeom prst="roundRect">
            <a:avLst/>
          </a:prstGeom>
          <a:solidFill>
            <a:srgbClr val="788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300319" y="91440"/>
            <a:ext cx="109728" cy="109728"/>
          </a:xfrm>
          <a:prstGeom prst="roundRect">
            <a:avLst/>
          </a:prstGeom>
          <a:solidFill>
            <a:srgbClr val="788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464911" y="91440"/>
            <a:ext cx="109728" cy="109728"/>
          </a:xfrm>
          <a:prstGeom prst="roundRect">
            <a:avLst/>
          </a:prstGeom>
          <a:solidFill>
            <a:srgbClr val="788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629503" y="91440"/>
            <a:ext cx="109728" cy="109728"/>
          </a:xfrm>
          <a:prstGeom prst="roundRect">
            <a:avLst/>
          </a:prstGeom>
          <a:solidFill>
            <a:srgbClr val="788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5794095" y="91440"/>
            <a:ext cx="109728" cy="109728"/>
          </a:xfrm>
          <a:prstGeom prst="roundRect">
            <a:avLst/>
          </a:prstGeom>
          <a:solidFill>
            <a:srgbClr val="788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958687" y="91440"/>
            <a:ext cx="109728" cy="109728"/>
          </a:xfrm>
          <a:prstGeom prst="roundRect">
            <a:avLst/>
          </a:prstGeom>
          <a:solidFill>
            <a:srgbClr val="788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123279" y="91440"/>
            <a:ext cx="109728" cy="109728"/>
          </a:xfrm>
          <a:prstGeom prst="roundRect">
            <a:avLst/>
          </a:prstGeom>
          <a:solidFill>
            <a:srgbClr val="788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287871" y="91440"/>
            <a:ext cx="109728" cy="109728"/>
          </a:xfrm>
          <a:prstGeom prst="roundRect">
            <a:avLst/>
          </a:prstGeom>
          <a:solidFill>
            <a:srgbClr val="788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452463" y="91440"/>
            <a:ext cx="109728" cy="109728"/>
          </a:xfrm>
          <a:prstGeom prst="roundRect">
            <a:avLst/>
          </a:prstGeom>
          <a:solidFill>
            <a:srgbClr val="788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617055" y="91440"/>
            <a:ext cx="109728" cy="109728"/>
          </a:xfrm>
          <a:prstGeom prst="roundRect">
            <a:avLst/>
          </a:prstGeom>
          <a:solidFill>
            <a:srgbClr val="788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781647" y="91440"/>
            <a:ext cx="109728" cy="109728"/>
          </a:xfrm>
          <a:prstGeom prst="roundRect">
            <a:avLst/>
          </a:prstGeom>
          <a:solidFill>
            <a:srgbClr val="788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946239" y="91440"/>
            <a:ext cx="109728" cy="109728"/>
          </a:xfrm>
          <a:prstGeom prst="roundRect">
            <a:avLst/>
          </a:prstGeom>
          <a:solidFill>
            <a:srgbClr val="E0B8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7110831" y="91440"/>
            <a:ext cx="109728" cy="109728"/>
          </a:xfrm>
          <a:prstGeom prst="roundRect">
            <a:avLst/>
          </a:prstGeom>
          <a:solidFill>
            <a:srgbClr val="788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11480" y="685800"/>
            <a:ext cx="1581912" cy="292608"/>
          </a:xfrm>
          <a:prstGeom prst="roundRect">
            <a:avLst/>
          </a:prstGeom>
          <a:solidFill>
            <a:srgbClr val="1894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11480" y="704088"/>
            <a:ext cx="1581912" cy="256032"/>
          </a:xfrm>
          <a:prstGeom prst="rect">
            <a:avLst/>
          </a:prstGeom>
          <a:noFill/>
        </p:spPr>
        <p:txBody>
          <a:bodyPr wrap="square">
            <a:spAutoFit/>
          </a:bodyPr>
          <a:lstStyle/>
          <a:p>
            <a:pPr algn="ctr"/>
            <a:r>
              <a:rPr sz="1000" b="1" i="0">
                <a:solidFill>
                  <a:srgbClr val="FAFBFA"/>
                </a:solidFill>
                <a:latin typeface="Montserrat"/>
              </a:rPr>
              <a:t>WHAT YOU BUILT</a:t>
            </a:r>
          </a:p>
        </p:txBody>
      </p:sp>
      <p:sp>
        <p:nvSpPr>
          <p:cNvPr id="22" name="TextBox 21"/>
          <p:cNvSpPr txBox="1"/>
          <p:nvPr/>
        </p:nvSpPr>
        <p:spPr>
          <a:xfrm>
            <a:off x="411480" y="1078992"/>
            <a:ext cx="11338560" cy="777240"/>
          </a:xfrm>
          <a:prstGeom prst="rect">
            <a:avLst/>
          </a:prstGeom>
          <a:noFill/>
        </p:spPr>
        <p:txBody>
          <a:bodyPr wrap="square">
            <a:spAutoFit/>
          </a:bodyPr>
          <a:lstStyle/>
          <a:p>
            <a:pPr algn="l"/>
            <a:r>
              <a:rPr sz="2800" b="1" i="0">
                <a:solidFill>
                  <a:srgbClr val="FAFBFA"/>
                </a:solidFill>
                <a:latin typeface="Poppins"/>
              </a:rPr>
              <a:t>Three working systems. Use them tonight.</a:t>
            </a:r>
          </a:p>
        </p:txBody>
      </p:sp>
      <p:sp>
        <p:nvSpPr>
          <p:cNvPr id="23" name="Rounded Rectangle 22"/>
          <p:cNvSpPr/>
          <p:nvPr/>
        </p:nvSpPr>
        <p:spPr>
          <a:xfrm>
            <a:off x="411480" y="1874519"/>
            <a:ext cx="11338560" cy="1170432"/>
          </a:xfrm>
          <a:prstGeom prst="roundRect">
            <a:avLst/>
          </a:prstGeom>
          <a:solidFill>
            <a:srgbClr val="121626"/>
          </a:solidFill>
          <a:ln w="9525">
            <a:solidFill>
              <a:srgbClr val="E0B8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11480" y="1874519"/>
            <a:ext cx="128016" cy="1170432"/>
          </a:xfrm>
          <a:prstGeom prst="rect">
            <a:avLst/>
          </a:prstGeom>
          <a:solidFill>
            <a:srgbClr val="E0B8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13232" y="1984247"/>
            <a:ext cx="10972800" cy="438912"/>
          </a:xfrm>
          <a:prstGeom prst="rect">
            <a:avLst/>
          </a:prstGeom>
          <a:noFill/>
        </p:spPr>
        <p:txBody>
          <a:bodyPr wrap="square">
            <a:spAutoFit/>
          </a:bodyPr>
          <a:lstStyle/>
          <a:p>
            <a:pPr algn="l"/>
            <a:r>
              <a:rPr sz="1800" b="1" i="0">
                <a:solidFill>
                  <a:srgbClr val="E0B848"/>
                </a:solidFill>
                <a:latin typeface="Montserrat"/>
              </a:rPr>
              <a:t>Sales Copywriting Agent</a:t>
            </a:r>
          </a:p>
        </p:txBody>
      </p:sp>
      <p:sp>
        <p:nvSpPr>
          <p:cNvPr id="26" name="TextBox 25"/>
          <p:cNvSpPr txBox="1"/>
          <p:nvPr/>
        </p:nvSpPr>
        <p:spPr>
          <a:xfrm>
            <a:off x="713232" y="2468879"/>
            <a:ext cx="10789920" cy="457200"/>
          </a:xfrm>
          <a:prstGeom prst="rect">
            <a:avLst/>
          </a:prstGeom>
          <a:noFill/>
        </p:spPr>
        <p:txBody>
          <a:bodyPr wrap="square">
            <a:spAutoFit/>
          </a:bodyPr>
          <a:lstStyle/>
          <a:p>
            <a:pPr algn="l"/>
            <a:r>
              <a:rPr sz="1300" b="0" i="0">
                <a:solidFill>
                  <a:srgbClr val="C8CDD7"/>
                </a:solidFill>
                <a:latin typeface="Open Sans"/>
              </a:rPr>
              <a:t>LinkedIn posts in your voice  ·  Prospect comments that open conversations without pitching</a:t>
            </a:r>
          </a:p>
        </p:txBody>
      </p:sp>
      <p:sp>
        <p:nvSpPr>
          <p:cNvPr id="27" name="Rounded Rectangle 26"/>
          <p:cNvSpPr/>
          <p:nvPr/>
        </p:nvSpPr>
        <p:spPr>
          <a:xfrm>
            <a:off x="411480" y="3264407"/>
            <a:ext cx="11338560" cy="1170432"/>
          </a:xfrm>
          <a:prstGeom prst="roundRect">
            <a:avLst/>
          </a:prstGeom>
          <a:solidFill>
            <a:srgbClr val="121626"/>
          </a:solidFill>
          <a:ln w="9525">
            <a:solidFill>
              <a:srgbClr val="1894C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11480" y="3264407"/>
            <a:ext cx="128016" cy="1170432"/>
          </a:xfrm>
          <a:prstGeom prst="rect">
            <a:avLst/>
          </a:prstGeom>
          <a:solidFill>
            <a:srgbClr val="1894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13232" y="3374135"/>
            <a:ext cx="10972800" cy="438912"/>
          </a:xfrm>
          <a:prstGeom prst="rect">
            <a:avLst/>
          </a:prstGeom>
          <a:noFill/>
        </p:spPr>
        <p:txBody>
          <a:bodyPr wrap="square">
            <a:spAutoFit/>
          </a:bodyPr>
          <a:lstStyle/>
          <a:p>
            <a:pPr algn="l"/>
            <a:r>
              <a:rPr sz="1800" b="1" i="0">
                <a:solidFill>
                  <a:srgbClr val="1894C9"/>
                </a:solidFill>
                <a:latin typeface="Montserrat"/>
              </a:rPr>
              <a:t>Google Email Hub</a:t>
            </a:r>
          </a:p>
        </p:txBody>
      </p:sp>
      <p:sp>
        <p:nvSpPr>
          <p:cNvPr id="30" name="TextBox 29"/>
          <p:cNvSpPr txBox="1"/>
          <p:nvPr/>
        </p:nvSpPr>
        <p:spPr>
          <a:xfrm>
            <a:off x="713232" y="3858767"/>
            <a:ext cx="10789920" cy="457200"/>
          </a:xfrm>
          <a:prstGeom prst="rect">
            <a:avLst/>
          </a:prstGeom>
          <a:noFill/>
        </p:spPr>
        <p:txBody>
          <a:bodyPr wrap="square">
            <a:spAutoFit/>
          </a:bodyPr>
          <a:lstStyle/>
          <a:p>
            <a:pPr algn="l"/>
            <a:r>
              <a:rPr sz="1300" b="0" i="0">
                <a:solidFill>
                  <a:srgbClr val="C8CDD7"/>
                </a:solidFill>
                <a:latin typeface="Open Sans"/>
              </a:rPr>
              <a:t>Morning briefing from your real inbox before you touch a single email</a:t>
            </a:r>
          </a:p>
        </p:txBody>
      </p:sp>
      <p:sp>
        <p:nvSpPr>
          <p:cNvPr id="31" name="Rounded Rectangle 30"/>
          <p:cNvSpPr/>
          <p:nvPr/>
        </p:nvSpPr>
        <p:spPr>
          <a:xfrm>
            <a:off x="411480" y="4654295"/>
            <a:ext cx="11338560" cy="1170432"/>
          </a:xfrm>
          <a:prstGeom prst="roundRect">
            <a:avLst/>
          </a:prstGeom>
          <a:solidFill>
            <a:srgbClr val="121626"/>
          </a:solidFill>
          <a:ln w="9525">
            <a:solidFill>
              <a:srgbClr val="E0B8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411480" y="4654295"/>
            <a:ext cx="128016" cy="1170432"/>
          </a:xfrm>
          <a:prstGeom prst="rect">
            <a:avLst/>
          </a:prstGeom>
          <a:solidFill>
            <a:srgbClr val="E0B8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13232" y="4764023"/>
            <a:ext cx="10972800" cy="438912"/>
          </a:xfrm>
          <a:prstGeom prst="rect">
            <a:avLst/>
          </a:prstGeom>
          <a:noFill/>
        </p:spPr>
        <p:txBody>
          <a:bodyPr wrap="square">
            <a:spAutoFit/>
          </a:bodyPr>
          <a:lstStyle/>
          <a:p>
            <a:pPr algn="l"/>
            <a:r>
              <a:rPr sz="1800" b="1" i="0">
                <a:solidFill>
                  <a:srgbClr val="E0B848"/>
                </a:solidFill>
                <a:latin typeface="Montserrat"/>
              </a:rPr>
              <a:t>Social Chatter Agent</a:t>
            </a:r>
          </a:p>
        </p:txBody>
      </p:sp>
      <p:sp>
        <p:nvSpPr>
          <p:cNvPr id="34" name="TextBox 33"/>
          <p:cNvSpPr txBox="1"/>
          <p:nvPr/>
        </p:nvSpPr>
        <p:spPr>
          <a:xfrm>
            <a:off x="713232" y="5248655"/>
            <a:ext cx="10789920" cy="457200"/>
          </a:xfrm>
          <a:prstGeom prst="rect">
            <a:avLst/>
          </a:prstGeom>
          <a:noFill/>
        </p:spPr>
        <p:txBody>
          <a:bodyPr wrap="square">
            <a:spAutoFit/>
          </a:bodyPr>
          <a:lstStyle/>
          <a:p>
            <a:pPr algn="l"/>
            <a:r>
              <a:rPr sz="1300" b="0" i="0">
                <a:solidFill>
                  <a:srgbClr val="C8CDD7"/>
                </a:solidFill>
                <a:latin typeface="Open Sans"/>
              </a:rPr>
              <a:t>Full research brief on any prospect in under 2 minutes — competitor intel, intent signals, talk track</a:t>
            </a:r>
          </a:p>
        </p:txBody>
      </p:sp>
      <p:sp>
        <p:nvSpPr>
          <p:cNvPr id="35" name="Rounded Rectangle 34"/>
          <p:cNvSpPr/>
          <p:nvPr/>
        </p:nvSpPr>
        <p:spPr>
          <a:xfrm>
            <a:off x="411480" y="6172200"/>
            <a:ext cx="11338560" cy="347472"/>
          </a:xfrm>
          <a:prstGeom prst="round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11480" y="6199632"/>
            <a:ext cx="11338560" cy="292608"/>
          </a:xfrm>
          <a:prstGeom prst="rect">
            <a:avLst/>
          </a:prstGeom>
          <a:noFill/>
        </p:spPr>
        <p:txBody>
          <a:bodyPr wrap="square">
            <a:spAutoFit/>
          </a:bodyPr>
          <a:lstStyle/>
          <a:p>
            <a:pPr algn="ctr"/>
            <a:r>
              <a:rPr sz="1300" b="0" i="0">
                <a:solidFill>
                  <a:srgbClr val="E0B848"/>
                </a:solidFill>
                <a:latin typeface="Montserrat"/>
              </a:rPr>
              <a:t>Sellers using structured AI: 3.7x more likely to hit quota  ·  Gartner &amp; LinkedIn, 2025</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00814"/>
        </a:solidFill>
        <a:effectLst/>
      </p:bgPr>
    </p:bg>
    <p:spTree>
      <p:nvGrpSpPr>
        <p:cNvPr id="1" name=""/>
        <p:cNvGrpSpPr/>
        <p:nvPr/>
      </p:nvGrpSpPr>
      <p:grpSpPr/>
      <p:sp>
        <p:nvSpPr>
          <p:cNvPr id="2" name="Rectangle 1"/>
          <p:cNvSpPr/>
          <p:nvPr/>
        </p:nvSpPr>
        <p:spPr>
          <a:xfrm>
            <a:off x="6858000" y="0"/>
            <a:ext cx="5330952" cy="6858000"/>
          </a:xfrm>
          <a:prstGeom prst="rect">
            <a:avLst/>
          </a:prstGeom>
          <a:solidFill>
            <a:srgbClr val="14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E0B8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64592"/>
            <a:ext cx="1005840" cy="347472"/>
          </a:xfrm>
          <a:prstGeom prst="rect">
            <a:avLst/>
          </a:prstGeom>
          <a:noFill/>
        </p:spPr>
        <p:txBody>
          <a:bodyPr wrap="square">
            <a:spAutoFit/>
          </a:bodyPr>
          <a:lstStyle/>
          <a:p>
            <a:pPr algn="l"/>
            <a:r>
              <a:rPr sz="1500" b="1" i="0">
                <a:solidFill>
                  <a:srgbClr val="FAFBFA"/>
                </a:solidFill>
                <a:latin typeface="Poppins"/>
              </a:rPr>
              <a:t>BISHOP</a:t>
            </a:r>
          </a:p>
        </p:txBody>
      </p:sp>
      <p:sp>
        <p:nvSpPr>
          <p:cNvPr id="5" name="TextBox 4"/>
          <p:cNvSpPr txBox="1"/>
          <p:nvPr/>
        </p:nvSpPr>
        <p:spPr>
          <a:xfrm>
            <a:off x="1371600" y="164592"/>
            <a:ext cx="457200" cy="347472"/>
          </a:xfrm>
          <a:prstGeom prst="rect">
            <a:avLst/>
          </a:prstGeom>
          <a:noFill/>
        </p:spPr>
        <p:txBody>
          <a:bodyPr wrap="square">
            <a:spAutoFit/>
          </a:bodyPr>
          <a:lstStyle/>
          <a:p>
            <a:pPr algn="l"/>
            <a:r>
              <a:rPr sz="1500" b="1" i="0">
                <a:solidFill>
                  <a:srgbClr val="E0B848"/>
                </a:solidFill>
                <a:latin typeface="Poppins"/>
              </a:rPr>
              <a:t>AI</a:t>
            </a:r>
          </a:p>
        </p:txBody>
      </p:sp>
      <p:sp>
        <p:nvSpPr>
          <p:cNvPr id="6" name="Rectangle 5"/>
          <p:cNvSpPr/>
          <p:nvPr/>
        </p:nvSpPr>
        <p:spPr>
          <a:xfrm>
            <a:off x="0" y="6601968"/>
            <a:ext cx="12191695" cy="256032"/>
          </a:xfrm>
          <a:prstGeom prst="rect">
            <a:avLst/>
          </a:prstGeom>
          <a:solidFill>
            <a:srgbClr val="121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620256"/>
            <a:ext cx="11247120" cy="201168"/>
          </a:xfrm>
          <a:prstGeom prst="rect">
            <a:avLst/>
          </a:prstGeom>
          <a:noFill/>
        </p:spPr>
        <p:txBody>
          <a:bodyPr wrap="square">
            <a:spAutoFit/>
          </a:bodyPr>
          <a:lstStyle/>
          <a:p>
            <a:pPr algn="ctr"/>
            <a:r>
              <a:rPr sz="900" b="0" i="0">
                <a:solidFill>
                  <a:srgbClr val="788296"/>
                </a:solidFill>
                <a:latin typeface="Open Sans"/>
              </a:rPr>
              <a:t>PromptAnything.io  ·  BishopAI.com  ·  calendly.com/richmond  ·  Automation Nation</a:t>
            </a:r>
          </a:p>
        </p:txBody>
      </p:sp>
      <p:sp>
        <p:nvSpPr>
          <p:cNvPr id="8" name="Rounded Rectangle 7"/>
          <p:cNvSpPr/>
          <p:nvPr/>
        </p:nvSpPr>
        <p:spPr>
          <a:xfrm>
            <a:off x="4971135" y="91440"/>
            <a:ext cx="109728" cy="109728"/>
          </a:xfrm>
          <a:prstGeom prst="roundRect">
            <a:avLst/>
          </a:prstGeom>
          <a:solidFill>
            <a:srgbClr val="788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135727" y="91440"/>
            <a:ext cx="109728" cy="109728"/>
          </a:xfrm>
          <a:prstGeom prst="roundRect">
            <a:avLst/>
          </a:prstGeom>
          <a:solidFill>
            <a:srgbClr val="788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300319" y="91440"/>
            <a:ext cx="109728" cy="109728"/>
          </a:xfrm>
          <a:prstGeom prst="roundRect">
            <a:avLst/>
          </a:prstGeom>
          <a:solidFill>
            <a:srgbClr val="788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5464911" y="91440"/>
            <a:ext cx="109728" cy="109728"/>
          </a:xfrm>
          <a:prstGeom prst="roundRect">
            <a:avLst/>
          </a:prstGeom>
          <a:solidFill>
            <a:srgbClr val="788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629503" y="91440"/>
            <a:ext cx="109728" cy="109728"/>
          </a:xfrm>
          <a:prstGeom prst="roundRect">
            <a:avLst/>
          </a:prstGeom>
          <a:solidFill>
            <a:srgbClr val="788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5794095" y="91440"/>
            <a:ext cx="109728" cy="109728"/>
          </a:xfrm>
          <a:prstGeom prst="roundRect">
            <a:avLst/>
          </a:prstGeom>
          <a:solidFill>
            <a:srgbClr val="788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5958687" y="91440"/>
            <a:ext cx="109728" cy="109728"/>
          </a:xfrm>
          <a:prstGeom prst="roundRect">
            <a:avLst/>
          </a:prstGeom>
          <a:solidFill>
            <a:srgbClr val="788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123279" y="91440"/>
            <a:ext cx="109728" cy="109728"/>
          </a:xfrm>
          <a:prstGeom prst="roundRect">
            <a:avLst/>
          </a:prstGeom>
          <a:solidFill>
            <a:srgbClr val="788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87871" y="91440"/>
            <a:ext cx="109728" cy="109728"/>
          </a:xfrm>
          <a:prstGeom prst="roundRect">
            <a:avLst/>
          </a:prstGeom>
          <a:solidFill>
            <a:srgbClr val="788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452463" y="91440"/>
            <a:ext cx="109728" cy="109728"/>
          </a:xfrm>
          <a:prstGeom prst="roundRect">
            <a:avLst/>
          </a:prstGeom>
          <a:solidFill>
            <a:srgbClr val="788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617055" y="91440"/>
            <a:ext cx="109728" cy="109728"/>
          </a:xfrm>
          <a:prstGeom prst="roundRect">
            <a:avLst/>
          </a:prstGeom>
          <a:solidFill>
            <a:srgbClr val="788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781647" y="91440"/>
            <a:ext cx="109728" cy="109728"/>
          </a:xfrm>
          <a:prstGeom prst="roundRect">
            <a:avLst/>
          </a:prstGeom>
          <a:solidFill>
            <a:srgbClr val="788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6946239" y="91440"/>
            <a:ext cx="109728" cy="109728"/>
          </a:xfrm>
          <a:prstGeom prst="roundRect">
            <a:avLst/>
          </a:prstGeom>
          <a:solidFill>
            <a:srgbClr val="788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7110831" y="91440"/>
            <a:ext cx="109728" cy="109728"/>
          </a:xfrm>
          <a:prstGeom prst="roundRect">
            <a:avLst/>
          </a:prstGeom>
          <a:solidFill>
            <a:srgbClr val="E0B8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11480" y="868680"/>
            <a:ext cx="11338560" cy="777240"/>
          </a:xfrm>
          <a:prstGeom prst="rect">
            <a:avLst/>
          </a:prstGeom>
          <a:noFill/>
        </p:spPr>
        <p:txBody>
          <a:bodyPr wrap="square">
            <a:spAutoFit/>
          </a:bodyPr>
          <a:lstStyle/>
          <a:p>
            <a:pPr algn="l"/>
            <a:r>
              <a:rPr sz="3800" b="1" i="0">
                <a:solidFill>
                  <a:srgbClr val="FAFBFA"/>
                </a:solidFill>
                <a:latin typeface="Poppins"/>
              </a:rPr>
              <a:t>One conversation.</a:t>
            </a:r>
          </a:p>
        </p:txBody>
      </p:sp>
      <p:sp>
        <p:nvSpPr>
          <p:cNvPr id="23" name="TextBox 22"/>
          <p:cNvSpPr txBox="1"/>
          <p:nvPr/>
        </p:nvSpPr>
        <p:spPr>
          <a:xfrm>
            <a:off x="411480" y="1572768"/>
            <a:ext cx="11338560" cy="777240"/>
          </a:xfrm>
          <a:prstGeom prst="rect">
            <a:avLst/>
          </a:prstGeom>
          <a:noFill/>
        </p:spPr>
        <p:txBody>
          <a:bodyPr wrap="square">
            <a:spAutoFit/>
          </a:bodyPr>
          <a:lstStyle/>
          <a:p>
            <a:pPr algn="l"/>
            <a:r>
              <a:rPr sz="2800" b="1" i="0">
                <a:solidFill>
                  <a:srgbClr val="E0B848"/>
                </a:solidFill>
                <a:latin typeface="Poppins"/>
              </a:rPr>
              <a:t>See what's actually possible.</a:t>
            </a:r>
          </a:p>
        </p:txBody>
      </p:sp>
      <p:sp>
        <p:nvSpPr>
          <p:cNvPr id="24" name="Rectangle 23"/>
          <p:cNvSpPr/>
          <p:nvPr/>
        </p:nvSpPr>
        <p:spPr>
          <a:xfrm>
            <a:off x="411480" y="2286000"/>
            <a:ext cx="5943600" cy="36576"/>
          </a:xfrm>
          <a:prstGeom prst="rect">
            <a:avLst/>
          </a:prstGeom>
          <a:solidFill>
            <a:srgbClr val="E0B8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411480" y="2468880"/>
            <a:ext cx="5943600" cy="1325880"/>
          </a:xfrm>
          <a:prstGeom prst="roundRect">
            <a:avLst/>
          </a:prstGeom>
          <a:solidFill>
            <a:srgbClr val="121626"/>
          </a:solidFill>
          <a:ln w="9525">
            <a:solidFill>
              <a:srgbClr val="E0B8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640080" y="2606040"/>
            <a:ext cx="1321307" cy="292608"/>
          </a:xfrm>
          <a:prstGeom prst="roundRect">
            <a:avLst/>
          </a:prstGeom>
          <a:solidFill>
            <a:srgbClr val="E0B8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0080" y="2624328"/>
            <a:ext cx="1321307" cy="256032"/>
          </a:xfrm>
          <a:prstGeom prst="rect">
            <a:avLst/>
          </a:prstGeom>
          <a:noFill/>
        </p:spPr>
        <p:txBody>
          <a:bodyPr wrap="square">
            <a:spAutoFit/>
          </a:bodyPr>
          <a:lstStyle/>
          <a:p>
            <a:pPr algn="ctr"/>
            <a:r>
              <a:rPr sz="1000" b="1" i="0">
                <a:solidFill>
                  <a:srgbClr val="000814"/>
                </a:solidFill>
                <a:latin typeface="Montserrat"/>
              </a:rPr>
              <a:t>BOOK A CALL</a:t>
            </a:r>
          </a:p>
        </p:txBody>
      </p:sp>
      <p:sp>
        <p:nvSpPr>
          <p:cNvPr id="28" name="TextBox 27"/>
          <p:cNvSpPr txBox="1"/>
          <p:nvPr/>
        </p:nvSpPr>
        <p:spPr>
          <a:xfrm>
            <a:off x="640080" y="2944368"/>
            <a:ext cx="5486400" cy="384048"/>
          </a:xfrm>
          <a:prstGeom prst="rect">
            <a:avLst/>
          </a:prstGeom>
          <a:noFill/>
        </p:spPr>
        <p:txBody>
          <a:bodyPr wrap="square">
            <a:spAutoFit/>
          </a:bodyPr>
          <a:lstStyle/>
          <a:p>
            <a:pPr algn="l"/>
            <a:r>
              <a:rPr sz="2000" b="1" i="0">
                <a:solidFill>
                  <a:srgbClr val="E0B848"/>
                </a:solidFill>
                <a:latin typeface="Montserrat"/>
              </a:rPr>
              <a:t>calendly.com/richmond</a:t>
            </a:r>
          </a:p>
        </p:txBody>
      </p:sp>
      <p:sp>
        <p:nvSpPr>
          <p:cNvPr id="29" name="TextBox 28"/>
          <p:cNvSpPr txBox="1"/>
          <p:nvPr/>
        </p:nvSpPr>
        <p:spPr>
          <a:xfrm>
            <a:off x="640080" y="3346704"/>
            <a:ext cx="5486400" cy="347472"/>
          </a:xfrm>
          <a:prstGeom prst="rect">
            <a:avLst/>
          </a:prstGeom>
          <a:noFill/>
        </p:spPr>
        <p:txBody>
          <a:bodyPr wrap="square">
            <a:spAutoFit/>
          </a:bodyPr>
          <a:lstStyle/>
          <a:p>
            <a:pPr algn="l"/>
            <a:r>
              <a:rPr sz="1300" b="0" i="0">
                <a:solidFill>
                  <a:srgbClr val="C8CDD7"/>
                </a:solidFill>
                <a:latin typeface="Open Sans"/>
              </a:rPr>
              <a:t>30 minutes  ·  No pitch deck  ·  No pressure</a:t>
            </a:r>
          </a:p>
        </p:txBody>
      </p:sp>
      <p:sp>
        <p:nvSpPr>
          <p:cNvPr id="30" name="Rounded Rectangle 29"/>
          <p:cNvSpPr/>
          <p:nvPr/>
        </p:nvSpPr>
        <p:spPr>
          <a:xfrm>
            <a:off x="411480" y="3931920"/>
            <a:ext cx="5943600" cy="1188720"/>
          </a:xfrm>
          <a:prstGeom prst="roundRect">
            <a:avLst/>
          </a:prstGeom>
          <a:solidFill>
            <a:srgbClr val="121626"/>
          </a:solidFill>
          <a:ln w="9525">
            <a:solidFill>
              <a:srgbClr val="1894C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640080" y="4069080"/>
            <a:ext cx="1234440" cy="292608"/>
          </a:xfrm>
          <a:prstGeom prst="roundRect">
            <a:avLst/>
          </a:prstGeom>
          <a:solidFill>
            <a:srgbClr val="1894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40080" y="4087368"/>
            <a:ext cx="1234440" cy="256032"/>
          </a:xfrm>
          <a:prstGeom prst="rect">
            <a:avLst/>
          </a:prstGeom>
          <a:noFill/>
        </p:spPr>
        <p:txBody>
          <a:bodyPr wrap="square">
            <a:spAutoFit/>
          </a:bodyPr>
          <a:lstStyle/>
          <a:p>
            <a:pPr algn="ctr"/>
            <a:r>
              <a:rPr sz="1000" b="1" i="0">
                <a:solidFill>
                  <a:srgbClr val="FAFBFA"/>
                </a:solidFill>
                <a:latin typeface="Montserrat"/>
              </a:rPr>
              <a:t>FREE TRIAL</a:t>
            </a:r>
          </a:p>
        </p:txBody>
      </p:sp>
      <p:sp>
        <p:nvSpPr>
          <p:cNvPr id="33" name="TextBox 32"/>
          <p:cNvSpPr txBox="1"/>
          <p:nvPr/>
        </p:nvSpPr>
        <p:spPr>
          <a:xfrm>
            <a:off x="640080" y="4407408"/>
            <a:ext cx="5486400" cy="384048"/>
          </a:xfrm>
          <a:prstGeom prst="rect">
            <a:avLst/>
          </a:prstGeom>
          <a:noFill/>
        </p:spPr>
        <p:txBody>
          <a:bodyPr wrap="square">
            <a:spAutoFit/>
          </a:bodyPr>
          <a:lstStyle/>
          <a:p>
            <a:pPr algn="l"/>
            <a:r>
              <a:rPr sz="1800" b="1" i="0">
                <a:solidFill>
                  <a:srgbClr val="FAFBFA"/>
                </a:solidFill>
                <a:latin typeface="Montserrat"/>
              </a:rPr>
              <a:t>PromptAnything.io  —  7 days free</a:t>
            </a:r>
          </a:p>
        </p:txBody>
      </p:sp>
      <p:sp>
        <p:nvSpPr>
          <p:cNvPr id="34" name="TextBox 33"/>
          <p:cNvSpPr txBox="1"/>
          <p:nvPr/>
        </p:nvSpPr>
        <p:spPr>
          <a:xfrm>
            <a:off x="640080" y="4809744"/>
            <a:ext cx="5486400" cy="320040"/>
          </a:xfrm>
          <a:prstGeom prst="rect">
            <a:avLst/>
          </a:prstGeom>
          <a:noFill/>
        </p:spPr>
        <p:txBody>
          <a:bodyPr wrap="square">
            <a:spAutoFit/>
          </a:bodyPr>
          <a:lstStyle/>
          <a:p>
            <a:pPr algn="l"/>
            <a:r>
              <a:rPr sz="1300" b="0" i="0">
                <a:solidFill>
                  <a:srgbClr val="C8CDD7"/>
                </a:solidFill>
                <a:latin typeface="Open Sans"/>
              </a:rPr>
              <a:t>Everything you built today stays in your account</a:t>
            </a:r>
          </a:p>
        </p:txBody>
      </p:sp>
      <p:sp>
        <p:nvSpPr>
          <p:cNvPr id="35" name="TextBox 34"/>
          <p:cNvSpPr txBox="1"/>
          <p:nvPr/>
        </p:nvSpPr>
        <p:spPr>
          <a:xfrm>
            <a:off x="7132320" y="2331720"/>
            <a:ext cx="4572000" cy="347472"/>
          </a:xfrm>
          <a:prstGeom prst="rect">
            <a:avLst/>
          </a:prstGeom>
          <a:noFill/>
        </p:spPr>
        <p:txBody>
          <a:bodyPr wrap="square">
            <a:spAutoFit/>
          </a:bodyPr>
          <a:lstStyle/>
          <a:p>
            <a:pPr algn="l"/>
            <a:r>
              <a:rPr sz="1200" b="1" i="0">
                <a:solidFill>
                  <a:srgbClr val="E0B848"/>
                </a:solidFill>
                <a:latin typeface="Montserrat"/>
              </a:rPr>
              <a:t>NEXT 24 HOURS</a:t>
            </a:r>
          </a:p>
        </p:txBody>
      </p:sp>
      <p:sp>
        <p:nvSpPr>
          <p:cNvPr id="36" name="Rounded Rectangle 35"/>
          <p:cNvSpPr/>
          <p:nvPr/>
        </p:nvSpPr>
        <p:spPr>
          <a:xfrm>
            <a:off x="7040880" y="2743200"/>
            <a:ext cx="4846320" cy="804672"/>
          </a:xfrm>
          <a:prstGeom prst="roundRect">
            <a:avLst/>
          </a:prstGeom>
          <a:solidFill>
            <a:srgbClr val="121626"/>
          </a:solidFill>
          <a:ln w="6350">
            <a:solidFill>
              <a:srgbClr val="1064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040880" y="2743200"/>
            <a:ext cx="347472" cy="804672"/>
          </a:xfrm>
          <a:prstGeom prst="rect">
            <a:avLst/>
          </a:prstGeom>
          <a:noFill/>
        </p:spPr>
        <p:txBody>
          <a:bodyPr wrap="square">
            <a:spAutoFit/>
          </a:bodyPr>
          <a:lstStyle/>
          <a:p>
            <a:pPr algn="ctr"/>
            <a:r>
              <a:rPr sz="1300" b="1" i="0">
                <a:solidFill>
                  <a:srgbClr val="E0B848"/>
                </a:solidFill>
                <a:latin typeface="Poppins"/>
              </a:rPr>
              <a:t>1</a:t>
            </a:r>
          </a:p>
        </p:txBody>
      </p:sp>
      <p:sp>
        <p:nvSpPr>
          <p:cNvPr id="38" name="TextBox 37"/>
          <p:cNvSpPr txBox="1"/>
          <p:nvPr/>
        </p:nvSpPr>
        <p:spPr>
          <a:xfrm>
            <a:off x="7452360" y="2834640"/>
            <a:ext cx="4206240" cy="594360"/>
          </a:xfrm>
          <a:prstGeom prst="rect">
            <a:avLst/>
          </a:prstGeom>
          <a:noFill/>
        </p:spPr>
        <p:txBody>
          <a:bodyPr wrap="square">
            <a:spAutoFit/>
          </a:bodyPr>
          <a:lstStyle/>
          <a:p>
            <a:pPr algn="l"/>
            <a:r>
              <a:rPr sz="1200" b="0" i="0">
                <a:solidFill>
                  <a:srgbClr val="C8CDD7"/>
                </a:solidFill>
                <a:latin typeface="Open Sans"/>
              </a:rPr>
              <a:t>Customize all 3 prompts with your real product, ICP, voice</a:t>
            </a:r>
          </a:p>
        </p:txBody>
      </p:sp>
      <p:sp>
        <p:nvSpPr>
          <p:cNvPr id="39" name="Rounded Rectangle 38"/>
          <p:cNvSpPr/>
          <p:nvPr/>
        </p:nvSpPr>
        <p:spPr>
          <a:xfrm>
            <a:off x="7040880" y="3749040"/>
            <a:ext cx="4846320" cy="804672"/>
          </a:xfrm>
          <a:prstGeom prst="roundRect">
            <a:avLst/>
          </a:prstGeom>
          <a:solidFill>
            <a:srgbClr val="121626"/>
          </a:solidFill>
          <a:ln w="6350">
            <a:solidFill>
              <a:srgbClr val="1064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040880" y="3749040"/>
            <a:ext cx="347472" cy="804672"/>
          </a:xfrm>
          <a:prstGeom prst="rect">
            <a:avLst/>
          </a:prstGeom>
          <a:noFill/>
        </p:spPr>
        <p:txBody>
          <a:bodyPr wrap="square">
            <a:spAutoFit/>
          </a:bodyPr>
          <a:lstStyle/>
          <a:p>
            <a:pPr algn="ctr"/>
            <a:r>
              <a:rPr sz="1300" b="1" i="0">
                <a:solidFill>
                  <a:srgbClr val="E0B848"/>
                </a:solidFill>
                <a:latin typeface="Poppins"/>
              </a:rPr>
              <a:t>2</a:t>
            </a:r>
          </a:p>
        </p:txBody>
      </p:sp>
      <p:sp>
        <p:nvSpPr>
          <p:cNvPr id="41" name="TextBox 40"/>
          <p:cNvSpPr txBox="1"/>
          <p:nvPr/>
        </p:nvSpPr>
        <p:spPr>
          <a:xfrm>
            <a:off x="7452360" y="3840480"/>
            <a:ext cx="4206240" cy="594360"/>
          </a:xfrm>
          <a:prstGeom prst="rect">
            <a:avLst/>
          </a:prstGeom>
          <a:noFill/>
        </p:spPr>
        <p:txBody>
          <a:bodyPr wrap="square">
            <a:spAutoFit/>
          </a:bodyPr>
          <a:lstStyle/>
          <a:p>
            <a:pPr algn="l"/>
            <a:r>
              <a:rPr sz="1200" b="0" i="0">
                <a:solidFill>
                  <a:srgbClr val="C8CDD7"/>
                </a:solidFill>
                <a:latin typeface="Open Sans"/>
              </a:rPr>
              <a:t>Connect one more app in Claude — Calendar, Drive, or Slack</a:t>
            </a:r>
          </a:p>
        </p:txBody>
      </p:sp>
      <p:sp>
        <p:nvSpPr>
          <p:cNvPr id="42" name="Rounded Rectangle 41"/>
          <p:cNvSpPr/>
          <p:nvPr/>
        </p:nvSpPr>
        <p:spPr>
          <a:xfrm>
            <a:off x="7040880" y="4754880"/>
            <a:ext cx="4846320" cy="804672"/>
          </a:xfrm>
          <a:prstGeom prst="roundRect">
            <a:avLst/>
          </a:prstGeom>
          <a:solidFill>
            <a:srgbClr val="121626"/>
          </a:solidFill>
          <a:ln w="6350">
            <a:solidFill>
              <a:srgbClr val="1064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040880" y="4754880"/>
            <a:ext cx="347472" cy="804672"/>
          </a:xfrm>
          <a:prstGeom prst="rect">
            <a:avLst/>
          </a:prstGeom>
          <a:noFill/>
        </p:spPr>
        <p:txBody>
          <a:bodyPr wrap="square">
            <a:spAutoFit/>
          </a:bodyPr>
          <a:lstStyle/>
          <a:p>
            <a:pPr algn="ctr"/>
            <a:r>
              <a:rPr sz="1300" b="1" i="0">
                <a:solidFill>
                  <a:srgbClr val="E0B848"/>
                </a:solidFill>
                <a:latin typeface="Poppins"/>
              </a:rPr>
              <a:t>3</a:t>
            </a:r>
          </a:p>
        </p:txBody>
      </p:sp>
      <p:sp>
        <p:nvSpPr>
          <p:cNvPr id="44" name="TextBox 43"/>
          <p:cNvSpPr txBox="1"/>
          <p:nvPr/>
        </p:nvSpPr>
        <p:spPr>
          <a:xfrm>
            <a:off x="7452360" y="4846320"/>
            <a:ext cx="4206240" cy="594360"/>
          </a:xfrm>
          <a:prstGeom prst="rect">
            <a:avLst/>
          </a:prstGeom>
          <a:noFill/>
        </p:spPr>
        <p:txBody>
          <a:bodyPr wrap="square">
            <a:spAutoFit/>
          </a:bodyPr>
          <a:lstStyle/>
          <a:p>
            <a:pPr algn="l"/>
            <a:r>
              <a:rPr sz="1200" b="0" i="0">
                <a:solidFill>
                  <a:srgbClr val="C8CDD7"/>
                </a:solidFill>
                <a:latin typeface="Open Sans"/>
              </a:rPr>
              <a:t>Use the comment generator on a real prospect — actually post it</a:t>
            </a:r>
          </a:p>
        </p:txBody>
      </p:sp>
      <p:sp>
        <p:nvSpPr>
          <p:cNvPr id="45" name="Rounded Rectangle 44"/>
          <p:cNvSpPr/>
          <p:nvPr/>
        </p:nvSpPr>
        <p:spPr>
          <a:xfrm>
            <a:off x="7040880" y="5669280"/>
            <a:ext cx="1371600" cy="1371600"/>
          </a:xfrm>
          <a:prstGeom prst="roundRect">
            <a:avLst/>
          </a:prstGeom>
          <a:solidFill>
            <a:srgbClr val="FAFBFA"/>
          </a:solidFill>
          <a:ln w="12700">
            <a:solidFill>
              <a:srgbClr val="E0B8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040880" y="6355080"/>
            <a:ext cx="1371600" cy="320040"/>
          </a:xfrm>
          <a:prstGeom prst="rect">
            <a:avLst/>
          </a:prstGeom>
          <a:noFill/>
        </p:spPr>
        <p:txBody>
          <a:bodyPr wrap="square">
            <a:spAutoFit/>
          </a:bodyPr>
          <a:lstStyle/>
          <a:p>
            <a:pPr algn="ctr"/>
            <a:r>
              <a:rPr sz="900" b="0" i="0">
                <a:solidFill>
                  <a:srgbClr val="788296"/>
                </a:solidFill>
                <a:latin typeface="Open Sans"/>
              </a:rPr>
              <a:t>QR → Book</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